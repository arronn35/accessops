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6d368d6192408f" /><Relationship Type="http://schemas.openxmlformats.org/officeDocument/2006/relationships/extended-properties" Target="/docProps/app.xml" Id="R0f12683e74704a56" /><Relationship Type="http://schemas.openxmlformats.org/officeDocument/2006/relationships/officeDocument" Target="/ppt/presentation.xml" Id="R6f99b456dc4846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f503c645f1457d"/>
  </p:sldMasterIdLst>
  <p:notesMasterIdLst>
    <p:notesMasterId xmlns:r="http://schemas.openxmlformats.org/officeDocument/2006/relationships" r:id="Rc4d53307e0d449ab"/>
  </p:notesMasterIdLst>
  <p:sldIdLst>
    <p:sldId xmlns:r="http://schemas.openxmlformats.org/officeDocument/2006/relationships" id="256" r:id="R919d6b9810014a06"/>
    <p:sldId xmlns:r="http://schemas.openxmlformats.org/officeDocument/2006/relationships" id="257" r:id="R70b2c38c7b294fca"/>
    <p:sldId xmlns:r="http://schemas.openxmlformats.org/officeDocument/2006/relationships" id="258" r:id="Rf2f72cbdca0c4f6f"/>
    <p:sldId xmlns:r="http://schemas.openxmlformats.org/officeDocument/2006/relationships" id="259" r:id="Rd2216b5dfd314d0b"/>
    <p:sldId xmlns:r="http://schemas.openxmlformats.org/officeDocument/2006/relationships" id="260" r:id="Ra26108c2fc3c40c5"/>
    <p:sldId xmlns:r="http://schemas.openxmlformats.org/officeDocument/2006/relationships" id="261" r:id="Rd90f6cd096d24e24"/>
    <p:sldId xmlns:r="http://schemas.openxmlformats.org/officeDocument/2006/relationships" id="262" r:id="Rfe7cdf73fa4e4fb8"/>
    <p:sldId xmlns:r="http://schemas.openxmlformats.org/officeDocument/2006/relationships" id="263" r:id="R2f29e6b701d2440b"/>
    <p:sldId xmlns:r="http://schemas.openxmlformats.org/officeDocument/2006/relationships" id="264" r:id="Rdacd9b9335f2412a"/>
    <p:sldId xmlns:r="http://schemas.openxmlformats.org/officeDocument/2006/relationships" id="265" r:id="R02bb859297244e35"/>
    <p:sldId xmlns:r="http://schemas.openxmlformats.org/officeDocument/2006/relationships" id="266" r:id="R281d2fbeb5474c3f"/>
    <p:sldId xmlns:r="http://schemas.openxmlformats.org/officeDocument/2006/relationships" id="267" r:id="R970f5ca1b4ab46e0"/>
    <p:sldId xmlns:r="http://schemas.openxmlformats.org/officeDocument/2006/relationships" id="268" r:id="R0a2341be714449da"/>
    <p:sldId xmlns:r="http://schemas.openxmlformats.org/officeDocument/2006/relationships" id="269" r:id="R68b5ca1c0f6d438f"/>
    <p:sldId xmlns:r="http://schemas.openxmlformats.org/officeDocument/2006/relationships" id="270" r:id="Rec6f6bb0e630400e"/>
    <p:sldId xmlns:r="http://schemas.openxmlformats.org/officeDocument/2006/relationships" id="271" r:id="R56b6002f748e4693"/>
    <p:sldId xmlns:r="http://schemas.openxmlformats.org/officeDocument/2006/relationships" id="272" r:id="R2e20f8647f774aa6"/>
    <p:sldId xmlns:r="http://schemas.openxmlformats.org/officeDocument/2006/relationships" id="273" r:id="R18fe6b5493114a64"/>
    <p:sldId xmlns:r="http://schemas.openxmlformats.org/officeDocument/2006/relationships" id="274" r:id="R2b3c2e668bb342c9"/>
    <p:sldId xmlns:r="http://schemas.openxmlformats.org/officeDocument/2006/relationships" id="275" r:id="R051849e813e442db"/>
    <p:sldId xmlns:r="http://schemas.openxmlformats.org/officeDocument/2006/relationships" id="276" r:id="Rea09d06a1c8644f1"/>
    <p:sldId xmlns:r="http://schemas.openxmlformats.org/officeDocument/2006/relationships" id="277" r:id="Rc9fbf381bbbb4d52"/>
    <p:sldId xmlns:r="http://schemas.openxmlformats.org/officeDocument/2006/relationships" id="278" r:id="R6ca7ff1c078347f2"/>
    <p:sldId xmlns:r="http://schemas.openxmlformats.org/officeDocument/2006/relationships" id="279" r:id="R3807c490e9ea4dbf"/>
    <p:sldId xmlns:r="http://schemas.openxmlformats.org/officeDocument/2006/relationships" id="280" r:id="R3eab74c344ad4584"/>
    <p:sldId xmlns:r="http://schemas.openxmlformats.org/officeDocument/2006/relationships" id="281" r:id="R13ef334d907f4151"/>
    <p:sldId xmlns:r="http://schemas.openxmlformats.org/officeDocument/2006/relationships" id="282" r:id="Rc51cc187c2694a9d"/>
    <p:sldId xmlns:r="http://schemas.openxmlformats.org/officeDocument/2006/relationships" id="283" r:id="R5fa146d6ad9f4715"/>
    <p:sldId xmlns:r="http://schemas.openxmlformats.org/officeDocument/2006/relationships" id="284" r:id="Rfff3c23607cd41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79387f8bab4f6b" /><Relationship Type="http://schemas.openxmlformats.org/officeDocument/2006/relationships/slideMaster" Target="/ppt/slideMasters/slideMaster1.xml" Id="R27f503c645f1457d" /><Relationship Type="http://schemas.openxmlformats.org/officeDocument/2006/relationships/notesMaster" Target="/ppt/notesMasters/notesMaster1.xml" Id="Rc4d53307e0d449ab" /><Relationship Type="http://schemas.openxmlformats.org/officeDocument/2006/relationships/presProps" Target="/ppt/presProps.xml" Id="Rf51b45abb2e24cd7" /><Relationship Type="http://schemas.openxmlformats.org/officeDocument/2006/relationships/tableStyles" Target="/ppt/tableStyles.xml" Id="Re93537389b9a49db" /><Relationship Type="http://schemas.openxmlformats.org/officeDocument/2006/relationships/slide" Target="/ppt/slides/slide1.xml" Id="R919d6b9810014a06" /><Relationship Type="http://schemas.openxmlformats.org/officeDocument/2006/relationships/slide" Target="/ppt/slides/slide2.xml" Id="R70b2c38c7b294fca" /><Relationship Type="http://schemas.openxmlformats.org/officeDocument/2006/relationships/slide" Target="/ppt/slides/slide3.xml" Id="Rf2f72cbdca0c4f6f" /><Relationship Type="http://schemas.openxmlformats.org/officeDocument/2006/relationships/slide" Target="/ppt/slides/slide4.xml" Id="Rd2216b5dfd314d0b" /><Relationship Type="http://schemas.openxmlformats.org/officeDocument/2006/relationships/slide" Target="/ppt/slides/slide5.xml" Id="Ra26108c2fc3c40c5" /><Relationship Type="http://schemas.openxmlformats.org/officeDocument/2006/relationships/slide" Target="/ppt/slides/slide6.xml" Id="Rd90f6cd096d24e24" /><Relationship Type="http://schemas.openxmlformats.org/officeDocument/2006/relationships/slide" Target="/ppt/slides/slide7.xml" Id="Rfe7cdf73fa4e4fb8" /><Relationship Type="http://schemas.openxmlformats.org/officeDocument/2006/relationships/slide" Target="/ppt/slides/slide8.xml" Id="R2f29e6b701d2440b" /><Relationship Type="http://schemas.openxmlformats.org/officeDocument/2006/relationships/slide" Target="/ppt/slides/slide9.xml" Id="Rdacd9b9335f2412a" /><Relationship Type="http://schemas.openxmlformats.org/officeDocument/2006/relationships/slide" Target="/ppt/slides/slide10.xml" Id="R02bb859297244e35" /><Relationship Type="http://schemas.openxmlformats.org/officeDocument/2006/relationships/slide" Target="/ppt/slides/slide11.xml" Id="R281d2fbeb5474c3f" /><Relationship Type="http://schemas.openxmlformats.org/officeDocument/2006/relationships/slide" Target="/ppt/slides/slide12.xml" Id="R970f5ca1b4ab46e0" /><Relationship Type="http://schemas.openxmlformats.org/officeDocument/2006/relationships/slide" Target="/ppt/slides/slide13.xml" Id="R0a2341be714449da" /><Relationship Type="http://schemas.openxmlformats.org/officeDocument/2006/relationships/slide" Target="/ppt/slides/slide14.xml" Id="R68b5ca1c0f6d438f" /><Relationship Type="http://schemas.openxmlformats.org/officeDocument/2006/relationships/slide" Target="/ppt/slides/slide15.xml" Id="Rec6f6bb0e630400e" /><Relationship Type="http://schemas.openxmlformats.org/officeDocument/2006/relationships/slide" Target="/ppt/slides/slide16.xml" Id="R56b6002f748e4693" /><Relationship Type="http://schemas.openxmlformats.org/officeDocument/2006/relationships/slide" Target="/ppt/slides/slide17.xml" Id="R2e20f8647f774aa6" /><Relationship Type="http://schemas.openxmlformats.org/officeDocument/2006/relationships/slide" Target="/ppt/slides/slide18.xml" Id="R18fe6b5493114a64" /><Relationship Type="http://schemas.openxmlformats.org/officeDocument/2006/relationships/slide" Target="/ppt/slides/slide19.xml" Id="R2b3c2e668bb342c9" /><Relationship Type="http://schemas.openxmlformats.org/officeDocument/2006/relationships/slide" Target="/ppt/slides/slide20.xml" Id="R051849e813e442db" /><Relationship Type="http://schemas.openxmlformats.org/officeDocument/2006/relationships/slide" Target="/ppt/slides/slide21.xml" Id="Rea09d06a1c8644f1" /><Relationship Type="http://schemas.openxmlformats.org/officeDocument/2006/relationships/slide" Target="/ppt/slides/slide22.xml" Id="Rc9fbf381bbbb4d52" /><Relationship Type="http://schemas.openxmlformats.org/officeDocument/2006/relationships/slide" Target="/ppt/slides/slide23.xml" Id="R6ca7ff1c078347f2" /><Relationship Type="http://schemas.openxmlformats.org/officeDocument/2006/relationships/slide" Target="/ppt/slides/slide24.xml" Id="R3807c490e9ea4dbf" /><Relationship Type="http://schemas.openxmlformats.org/officeDocument/2006/relationships/slide" Target="/ppt/slides/slide25.xml" Id="R3eab74c344ad4584" /><Relationship Type="http://schemas.openxmlformats.org/officeDocument/2006/relationships/slide" Target="/ppt/slides/slide26.xml" Id="R13ef334d907f4151" /><Relationship Type="http://schemas.openxmlformats.org/officeDocument/2006/relationships/slide" Target="/ppt/slides/slide27.xml" Id="Rc51cc187c2694a9d" /><Relationship Type="http://schemas.openxmlformats.org/officeDocument/2006/relationships/slide" Target="/ppt/slides/slide28.xml" Id="R5fa146d6ad9f4715" /><Relationship Type="http://schemas.openxmlformats.org/officeDocument/2006/relationships/slide" Target="/ppt/slides/slide29.xml" Id="Rfff3c23607cd41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6ef702613440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Percevia AI">
      <a:dk1>
        <a:srgbClr val="0B1220"/>
      </a:dk1>
      <a:lt1>
        <a:srgbClr val="FFFFFF"/>
      </a:lt1>
      <a:dk2>
        <a:srgbClr val="111A2E"/>
      </a:dk2>
      <a:lt2>
        <a:srgbClr val="EFF2F8"/>
      </a:lt2>
      <a:accent1>
        <a:srgbClr val="4A7BFF"/>
      </a:accent1>
      <a:accent2>
        <a:srgbClr val="7A6CF0"/>
      </a:accent2>
      <a:accent3>
        <a:srgbClr val="3FA67A"/>
      </a:accent3>
      <a:accent4>
        <a:srgbClr val="C28A2E"/>
      </a:accent4>
      <a:accent5>
        <a:srgbClr val="B7475A"/>
      </a:accent5>
      <a:accent6>
        <a:srgbClr val="0B1220"/>
      </a:accent6>
      <a:hlink>
        <a:srgbClr val="3563E6"/>
      </a:hlink>
      <a:folHlink>
        <a:srgbClr val="5E4F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via AI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a13cc0e0e64818" /><Relationship Type="http://schemas.openxmlformats.org/officeDocument/2006/relationships/notesMaster" Target="/ppt/notesMasters/notesMaster1.xml" Id="R55bad444318b49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882f6b75c049df" /><Relationship Type="http://schemas.openxmlformats.org/officeDocument/2006/relationships/notesMaster" Target="/ppt/notesMasters/notesMaster1.xml" Id="R25eef80f7b3947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cd0248669941a4" /><Relationship Type="http://schemas.openxmlformats.org/officeDocument/2006/relationships/notesMaster" Target="/ppt/notesMasters/notesMaster1.xml" Id="R46f5316caace4e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a0f77ba5474cf2" /><Relationship Type="http://schemas.openxmlformats.org/officeDocument/2006/relationships/notesMaster" Target="/ppt/notesMasters/notesMaster1.xml" Id="R2dbcd07d33cc4c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00f3ec30e54d9e" /><Relationship Type="http://schemas.openxmlformats.org/officeDocument/2006/relationships/notesMaster" Target="/ppt/notesMasters/notesMaster1.xml" Id="R191b724ffb4b47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aad0ca4c6643c4" /><Relationship Type="http://schemas.openxmlformats.org/officeDocument/2006/relationships/notesMaster" Target="/ppt/notesMasters/notesMaster1.xml" Id="R56c27a7cb55943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f14c7913cc41ba" /><Relationship Type="http://schemas.openxmlformats.org/officeDocument/2006/relationships/notesMaster" Target="/ppt/notesMasters/notesMaster1.xml" Id="Rd28b00ade6b944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043ca0fa5f4488" /><Relationship Type="http://schemas.openxmlformats.org/officeDocument/2006/relationships/notesMaster" Target="/ppt/notesMasters/notesMaster1.xml" Id="R5cc214177ecd44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781573efc4b4e5c" /><Relationship Type="http://schemas.openxmlformats.org/officeDocument/2006/relationships/notesMaster" Target="/ppt/notesMasters/notesMaster1.xml" Id="R8ac6946bcefc44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a7110399f0417c" /><Relationship Type="http://schemas.openxmlformats.org/officeDocument/2006/relationships/notesMaster" Target="/ppt/notesMasters/notesMaster1.xml" Id="R06a4a6d89fcb49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3aa79c5c7247de" /><Relationship Type="http://schemas.openxmlformats.org/officeDocument/2006/relationships/notesMaster" Target="/ppt/notesMasters/notesMaster1.xml" Id="R1ab38b4b71f742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675c81d81a4315" /><Relationship Type="http://schemas.openxmlformats.org/officeDocument/2006/relationships/notesMaster" Target="/ppt/notesMasters/notesMaster1.xml" Id="R70998c2ee42344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7ff3952b274d7a" /><Relationship Type="http://schemas.openxmlformats.org/officeDocument/2006/relationships/notesMaster" Target="/ppt/notesMasters/notesMaster1.xml" Id="R55bb3f90f81144d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0802caef9f4126" /><Relationship Type="http://schemas.openxmlformats.org/officeDocument/2006/relationships/notesMaster" Target="/ppt/notesMasters/notesMaster1.xml" Id="R47ea8f77526d4e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07ce23ec5144f90" /><Relationship Type="http://schemas.openxmlformats.org/officeDocument/2006/relationships/notesMaster" Target="/ppt/notesMasters/notesMaster1.xml" Id="R0c2ffd9c24fe4e7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3c1760cee947dd" /><Relationship Type="http://schemas.openxmlformats.org/officeDocument/2006/relationships/notesMaster" Target="/ppt/notesMasters/notesMaster1.xml" Id="R8f66b29e032b4a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5a0bfe90f6248e9" /><Relationship Type="http://schemas.openxmlformats.org/officeDocument/2006/relationships/notesMaster" Target="/ppt/notesMasters/notesMaster1.xml" Id="R48ee5b5b601646f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0e440d49d51435e" /><Relationship Type="http://schemas.openxmlformats.org/officeDocument/2006/relationships/notesMaster" Target="/ppt/notesMasters/notesMaster1.xml" Id="Rf153f74463be45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0205a63e0274e55" /><Relationship Type="http://schemas.openxmlformats.org/officeDocument/2006/relationships/notesMaster" Target="/ppt/notesMasters/notesMaster1.xml" Id="R82a25e39a3f9484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1837d1d8a6e4d63" /><Relationship Type="http://schemas.openxmlformats.org/officeDocument/2006/relationships/notesMaster" Target="/ppt/notesMasters/notesMaster1.xml" Id="Rfa46e4ae99eb49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4e8c6b36f494179" /><Relationship Type="http://schemas.openxmlformats.org/officeDocument/2006/relationships/notesMaster" Target="/ppt/notesMasters/notesMaster1.xml" Id="R205893cc1542426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f8f1e8e7fb486e" /><Relationship Type="http://schemas.openxmlformats.org/officeDocument/2006/relationships/notesMaster" Target="/ppt/notesMasters/notesMaster1.xml" Id="R6cb7be78dba647d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afe86910eec45f5" /><Relationship Type="http://schemas.openxmlformats.org/officeDocument/2006/relationships/notesMaster" Target="/ppt/notesMasters/notesMaster1.xml" Id="Ra34f1ecc1f72479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369328af5d04387" /><Relationship Type="http://schemas.openxmlformats.org/officeDocument/2006/relationships/notesMaster" Target="/ppt/notesMasters/notesMaster1.xml" Id="R39ffa1193c8b4ae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a11bd947e1b4ca2" /><Relationship Type="http://schemas.openxmlformats.org/officeDocument/2006/relationships/notesMaster" Target="/ppt/notesMasters/notesMaster1.xml" Id="R977bf5e60f764e6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f7712cc1a254310" /><Relationship Type="http://schemas.openxmlformats.org/officeDocument/2006/relationships/notesMaster" Target="/ppt/notesMasters/notesMaster1.xml" Id="R1d4acb0da71b44d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27740c62a5d4385" /><Relationship Type="http://schemas.openxmlformats.org/officeDocument/2006/relationships/notesMaster" Target="/ppt/notesMasters/notesMaster1.xml" Id="Rcfb921a3e74f4f0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45d4beea2474b86" /><Relationship Type="http://schemas.openxmlformats.org/officeDocument/2006/relationships/notesMaster" Target="/ppt/notesMasters/notesMaster1.xml" Id="R81c29934fea146f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02fbfebd55f4806" /><Relationship Type="http://schemas.openxmlformats.org/officeDocument/2006/relationships/notesMaster" Target="/ppt/notesMasters/notesMaster1.xml" Id="R9061ce27b1f046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381b9b9344b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64660f58584660" /><Relationship Type="http://schemas.openxmlformats.org/officeDocument/2006/relationships/slideLayout" Target="/ppt/slideLayouts/slideLayout1.xml" Id="R66295397b9594c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295397b9594c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Percevia AI">
      <a:dk1>
        <a:srgbClr val="0B1220"/>
      </a:dk1>
      <a:lt1>
        <a:srgbClr val="FFFFFF"/>
      </a:lt1>
      <a:dk2>
        <a:srgbClr val="111A2E"/>
      </a:dk2>
      <a:lt2>
        <a:srgbClr val="EFF2F8"/>
      </a:lt2>
      <a:accent1>
        <a:srgbClr val="4A7BFF"/>
      </a:accent1>
      <a:accent2>
        <a:srgbClr val="7A6CF0"/>
      </a:accent2>
      <a:accent3>
        <a:srgbClr val="3FA67A"/>
      </a:accent3>
      <a:accent4>
        <a:srgbClr val="C28A2E"/>
      </a:accent4>
      <a:accent5>
        <a:srgbClr val="B7475A"/>
      </a:accent5>
      <a:accent6>
        <a:srgbClr val="0B1220"/>
      </a:accent6>
      <a:hlink>
        <a:srgbClr val="3563E6"/>
      </a:hlink>
      <a:folHlink>
        <a:srgbClr val="5E4F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via AI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f9cb94d89473f" /><Relationship Type="http://schemas.openxmlformats.org/officeDocument/2006/relationships/image" Target="/ppt/media/image.png" Id="Rdfacc23f7f134e63" /><Relationship Type="http://schemas.openxmlformats.org/officeDocument/2006/relationships/image" Target="/ppt/media/image.jpeg" Id="Rbb704db0cd5643c4" /><Relationship Type="http://schemas.openxmlformats.org/officeDocument/2006/relationships/notesSlide" Target="/ppt/notesSlides/notesSlide1.xml" Id="Re9b4bef9d9de46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d297609ca4637" /><Relationship Type="http://schemas.openxmlformats.org/officeDocument/2006/relationships/image" Target="/ppt/media/image2.png" Id="R4f99b2d98f59498d" /><Relationship Type="http://schemas.openxmlformats.org/officeDocument/2006/relationships/notesSlide" Target="/ppt/notesSlides/notesSlide2.xml" Id="R7b73b1c3ea0b46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0d6e7db834d27" /><Relationship Type="http://schemas.openxmlformats.org/officeDocument/2006/relationships/image" Target="/ppt/media/image3.png" Id="Re080d682218545d8" /><Relationship Type="http://schemas.openxmlformats.org/officeDocument/2006/relationships/notesSlide" Target="/ppt/notesSlides/notesSlide3.xml" Id="R91e1b88d52ae48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84a01705d4183" /><Relationship Type="http://schemas.openxmlformats.org/officeDocument/2006/relationships/image" Target="/ppt/media/image4.png" Id="Re89c462bb40f4e03" /><Relationship Type="http://schemas.openxmlformats.org/officeDocument/2006/relationships/notesSlide" Target="/ppt/notesSlides/notesSlide4.xml" Id="Rc7eba27747084e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ef42b30834806" /><Relationship Type="http://schemas.openxmlformats.org/officeDocument/2006/relationships/image" Target="/ppt/media/image5.png" Id="R44ee328469e04f1e" /><Relationship Type="http://schemas.openxmlformats.org/officeDocument/2006/relationships/image" Target="/ppt/media/image2.jpeg" Id="Rcd284ddbad9a4f57" /><Relationship Type="http://schemas.openxmlformats.org/officeDocument/2006/relationships/notesSlide" Target="/ppt/notesSlides/notesSlide5.xml" Id="R3f6a3b43c80744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aa834bae7414b" /><Relationship Type="http://schemas.openxmlformats.org/officeDocument/2006/relationships/image" Target="/ppt/media/image6.png" Id="R3253d9479aa346a1" /><Relationship Type="http://schemas.openxmlformats.org/officeDocument/2006/relationships/notesSlide" Target="/ppt/notesSlides/notesSlide6.xml" Id="R301f6ae2d4fd40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a5c2977dd45f8" /><Relationship Type="http://schemas.openxmlformats.org/officeDocument/2006/relationships/image" Target="/ppt/media/image7.png" Id="R46d508016d034964" /><Relationship Type="http://schemas.openxmlformats.org/officeDocument/2006/relationships/notesSlide" Target="/ppt/notesSlides/notesSlide7.xml" Id="Rb33bcaa37a3d44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0198e97484960" /><Relationship Type="http://schemas.openxmlformats.org/officeDocument/2006/relationships/image" Target="/ppt/media/image8.png" Id="Raff6373b36e145fb" /><Relationship Type="http://schemas.openxmlformats.org/officeDocument/2006/relationships/image" Target="/ppt/media/image3.jpeg" Id="R56731092689a4e42" /><Relationship Type="http://schemas.openxmlformats.org/officeDocument/2006/relationships/notesSlide" Target="/ppt/notesSlides/notesSlide8.xml" Id="Rb22bf0a8607249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f15dd34564f23" /><Relationship Type="http://schemas.openxmlformats.org/officeDocument/2006/relationships/image" Target="/ppt/media/image9.png" Id="R3cf3fd6ac65e4e8d" /><Relationship Type="http://schemas.openxmlformats.org/officeDocument/2006/relationships/notesSlide" Target="/ppt/notesSlides/notesSlide9.xml" Id="R01da2f86e37e4f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f79341f2e4d2a" /><Relationship Type="http://schemas.openxmlformats.org/officeDocument/2006/relationships/image" Target="/ppt/media/image10.png" Id="R13c2dd5dc8ea4f71" /><Relationship Type="http://schemas.openxmlformats.org/officeDocument/2006/relationships/notesSlide" Target="/ppt/notesSlides/notesSlide10.xml" Id="R84497195ac1045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bbe6dbb6742d8" /><Relationship Type="http://schemas.openxmlformats.org/officeDocument/2006/relationships/image" Target="/ppt/media/image11.png" Id="R7bb7fc3831ac4acb" /><Relationship Type="http://schemas.openxmlformats.org/officeDocument/2006/relationships/notesSlide" Target="/ppt/notesSlides/notesSlide11.xml" Id="R605112dd1d634e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5f24c511dd4ae3" /><Relationship Type="http://schemas.openxmlformats.org/officeDocument/2006/relationships/image" Target="/ppt/media/image12.png" Id="R4c5c93a1d3a1414a" /><Relationship Type="http://schemas.openxmlformats.org/officeDocument/2006/relationships/notesSlide" Target="/ppt/notesSlides/notesSlide12.xml" Id="R4030f844372b44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ac23329ad4515" /><Relationship Type="http://schemas.openxmlformats.org/officeDocument/2006/relationships/image" Target="/ppt/media/image13.png" Id="Rd3bd6913a479405e" /><Relationship Type="http://schemas.openxmlformats.org/officeDocument/2006/relationships/notesSlide" Target="/ppt/notesSlides/notesSlide13.xml" Id="Rc1032a11816849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1b9194574447d" /><Relationship Type="http://schemas.openxmlformats.org/officeDocument/2006/relationships/image" Target="/ppt/media/image14.png" Id="R4a66c3a8cfad4d0c" /><Relationship Type="http://schemas.openxmlformats.org/officeDocument/2006/relationships/notesSlide" Target="/ppt/notesSlides/notesSlide14.xml" Id="Rda48764a43a647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27a02092e477f" /><Relationship Type="http://schemas.openxmlformats.org/officeDocument/2006/relationships/image" Target="/ppt/media/image15.png" Id="Raadc6db9c71643e3" /><Relationship Type="http://schemas.openxmlformats.org/officeDocument/2006/relationships/notesSlide" Target="/ppt/notesSlides/notesSlide15.xml" Id="R07381134850e4f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35fed20814186" /><Relationship Type="http://schemas.openxmlformats.org/officeDocument/2006/relationships/image" Target="/ppt/media/image16.png" Id="R6e700396371948bc" /><Relationship Type="http://schemas.openxmlformats.org/officeDocument/2006/relationships/notesSlide" Target="/ppt/notesSlides/notesSlide16.xml" Id="R823202559a9e47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1caa178f64d36" /><Relationship Type="http://schemas.openxmlformats.org/officeDocument/2006/relationships/image" Target="/ppt/media/image17.png" Id="Rf7ba50c9ee004843" /><Relationship Type="http://schemas.openxmlformats.org/officeDocument/2006/relationships/image" Target="/ppt/media/image4.jpeg" Id="Rca6a4568cea74b5b" /><Relationship Type="http://schemas.openxmlformats.org/officeDocument/2006/relationships/notesSlide" Target="/ppt/notesSlides/notesSlide17.xml" Id="R258a3e4df85943c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7be3bc1ec4686" /><Relationship Type="http://schemas.openxmlformats.org/officeDocument/2006/relationships/image" Target="/ppt/media/image18.png" Id="Rf11e13b26944495f" /><Relationship Type="http://schemas.openxmlformats.org/officeDocument/2006/relationships/notesSlide" Target="/ppt/notesSlides/notesSlide18.xml" Id="R93da9360b402443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a3e42e3b348c2" /><Relationship Type="http://schemas.openxmlformats.org/officeDocument/2006/relationships/image" Target="/ppt/media/image19.png" Id="Rb2695dea2c914280" /><Relationship Type="http://schemas.openxmlformats.org/officeDocument/2006/relationships/image" Target="/ppt/media/image5.jpeg" Id="R5a156064b69144ef" /><Relationship Type="http://schemas.openxmlformats.org/officeDocument/2006/relationships/notesSlide" Target="/ppt/notesSlides/notesSlide19.xml" Id="Rb7b3c7a5a985478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350df443244af" /><Relationship Type="http://schemas.openxmlformats.org/officeDocument/2006/relationships/image" Target="/ppt/media/image20.png" Id="R592c7792629145c4" /><Relationship Type="http://schemas.openxmlformats.org/officeDocument/2006/relationships/notesSlide" Target="/ppt/notesSlides/notesSlide20.xml" Id="R2dc69e8e23a646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1d9b96ccf4f3f" /><Relationship Type="http://schemas.openxmlformats.org/officeDocument/2006/relationships/image" Target="/ppt/media/image21.png" Id="R58361610c26e408f" /><Relationship Type="http://schemas.openxmlformats.org/officeDocument/2006/relationships/image" Target="/ppt/media/image6.jpeg" Id="R36b225fa14a6444a" /><Relationship Type="http://schemas.openxmlformats.org/officeDocument/2006/relationships/notesSlide" Target="/ppt/notesSlides/notesSlide21.xml" Id="R8e8c130d030a40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13eeb79634496" /><Relationship Type="http://schemas.openxmlformats.org/officeDocument/2006/relationships/image" Target="/ppt/media/image22.png" Id="R189fa0f6464442f4" /><Relationship Type="http://schemas.openxmlformats.org/officeDocument/2006/relationships/notesSlide" Target="/ppt/notesSlides/notesSlide22.xml" Id="Rcdf60582073146a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d610d552b4fff" /><Relationship Type="http://schemas.openxmlformats.org/officeDocument/2006/relationships/image" Target="/ppt/media/image23.png" Id="R8529da8de90941b0" /><Relationship Type="http://schemas.openxmlformats.org/officeDocument/2006/relationships/notesSlide" Target="/ppt/notesSlides/notesSlide23.xml" Id="R2558880c5abb4a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62b1bf11c4cd7" /><Relationship Type="http://schemas.openxmlformats.org/officeDocument/2006/relationships/image" Target="/ppt/media/image24.png" Id="R4714cf67543542b9" /><Relationship Type="http://schemas.openxmlformats.org/officeDocument/2006/relationships/notesSlide" Target="/ppt/notesSlides/notesSlide24.xml" Id="R8846811a5f06464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604bc776a47f8" /><Relationship Type="http://schemas.openxmlformats.org/officeDocument/2006/relationships/image" Target="/ppt/media/image25.png" Id="R2e3f00ac968d4952" /><Relationship Type="http://schemas.openxmlformats.org/officeDocument/2006/relationships/notesSlide" Target="/ppt/notesSlides/notesSlide25.xml" Id="R7379ede34fda4ee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4220a5c2a4a62" /><Relationship Type="http://schemas.openxmlformats.org/officeDocument/2006/relationships/image" Target="/ppt/media/image26.png" Id="R9070c9f5bb624052" /><Relationship Type="http://schemas.openxmlformats.org/officeDocument/2006/relationships/notesSlide" Target="/ppt/notesSlides/notesSlide26.xml" Id="R0d9f1a9154cd4b8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6e48e20f6b4dfc" /><Relationship Type="http://schemas.openxmlformats.org/officeDocument/2006/relationships/image" Target="/ppt/media/image27.png" Id="R7454b84cbba944e9" /><Relationship Type="http://schemas.openxmlformats.org/officeDocument/2006/relationships/notesSlide" Target="/ppt/notesSlides/notesSlide27.xml" Id="Rf52b728bc2744d0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da2bed4f84e4b" /><Relationship Type="http://schemas.openxmlformats.org/officeDocument/2006/relationships/image" Target="/ppt/media/image28.png" Id="Ra6f8531279dd4ca5" /><Relationship Type="http://schemas.openxmlformats.org/officeDocument/2006/relationships/notesSlide" Target="/ppt/notesSlides/notesSlide28.xml" Id="Rf8476b379a7a445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5dfe501b24e31" /><Relationship Type="http://schemas.openxmlformats.org/officeDocument/2006/relationships/image" Target="/ppt/media/image29.png" Id="R3bda33cdd68e4bca" /><Relationship Type="http://schemas.openxmlformats.org/officeDocument/2006/relationships/notesSlide" Target="/ppt/notesSlides/notesSlide29.xml" Id="R96afbe735c7e43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BC62AF-7935-4A5B-ABB9-16C4E4D9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1143000"/>
            <a:ext cx="4953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77C6D-FFDF-48C4-BA12-90F1CF95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4953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cc23f7f134e63"/>
          <a:stretch xmlns:a="http://schemas.openxmlformats.org/drawingml/2006/main"/>
        </p:blipFill>
        <p:spPr>
          <a:xfrm xmlns:a="http://schemas.openxmlformats.org/drawingml/2006/main">
            <a:off x="609600" y="4191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A0CE3-8AB7-461F-82ED-2AF6966C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percevia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6667C-A76D-4039-AC23-E1A19F82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3817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>
                    <a:alpha val="70000"/>
                  </a:srgbClr>
                </a:solidFill>
              </a:defRPr>
            </a:pPr>
            <a:r>
              <a:rPr sz="600" b="1">
                <a:solidFill>
                  <a:srgbClr val="FFFFFF">
                    <a:alpha val="70000"/>
                  </a:srgbClr>
                </a:solidFill>
              </a:rPr>
              <a:t>MAITRICO.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0ABBD-337D-44F2-8728-CFF9BD6A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3143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02D3B-47A8-4DC3-9188-BEB37716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85875"/>
            <a:ext cx="2876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PRIVACY-FIRST ACCESSIBILITY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9B44E-91EC-4C09-974C-1D631559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647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Percevia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C79F8-7BC6-4B6A-ADEC-89553282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>
                    <a:alpha val="78000"/>
                  </a:srgbClr>
                </a:solidFill>
              </a:defRPr>
            </a:pPr>
            <a:r>
              <a:rPr sz="1800" b="0">
                <a:solidFill>
                  <a:srgbClr val="FFFFFF">
                    <a:alpha val="78000"/>
                  </a:srgbClr>
                </a:solidFill>
              </a:rPr>
              <a:t>Project scope and technical architecture presentation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E9BAEB-68BE-4016-914E-60D91695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>
                    <a:alpha val="65000"/>
                  </a:srgbClr>
                </a:solidFill>
              </a:defRPr>
            </a:pPr>
            <a:r>
              <a:rPr sz="1200" b="0">
                <a:solidFill>
                  <a:srgbClr val="FFFFFF">
                    <a:alpha val="65000"/>
                  </a:srgbClr>
                </a:solidFill>
              </a:rPr>
              <a:t>Prepared from the English technical report</a:t>
            </a:r>
          </a:p>
          <a:p xmlns:a="http://schemas.openxmlformats.org/drawingml/2006/main">
            <a:pPr algn="l">
              <a:defRPr sz="1200" b="0">
                <a:solidFill>
                  <a:srgbClr val="FFFFFF">
                    <a:alpha val="65000"/>
                  </a:srgbClr>
                </a:solidFill>
              </a:defRPr>
            </a:pPr>
            <a:r>
              <a:rPr sz="1200" b="0">
                <a:solidFill>
                  <a:srgbClr val="FFFFFF">
                    <a:alpha val="65000"/>
                  </a:srgbClr>
                </a:solidFill>
              </a:rPr>
              <a:t>Review date: June 23,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A24ADB-7FDD-4179-B558-C58BC19B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0150"/>
            <a:ext cx="432435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>
              <a:alpha val="7000"/>
            </a:srgbClr>
          </a:solidFill>
          <a:ln xmlns:a="http://schemas.openxmlformats.org/drawingml/2006/main" w="9525">
            <a:solidFill>
              <a:srgbClr val="FFFFFF">
                <a:alpha val="16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04db0cd5643c4"/>
          <a:stretch xmlns:a="http://schemas.openxmlformats.org/drawingml/2006/main"/>
        </p:blipFill>
        <p:spPr>
          <a:xfrm xmlns:a="http://schemas.openxmlformats.org/drawingml/2006/main">
            <a:off x="7315200" y="1957983"/>
            <a:ext cx="3943350" cy="2218134"/>
          </a:xfrm>
          <a:prstGeom xmlns:a="http://schemas.openxmlformats.org/drawingml/2006/main" prst="roundRect">
            <a:avLst>
              <a:gd name="adj" fmla="val 340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9B7D2-7F16-4432-9DA9-43D607E6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70000"/>
                  </a:srgbClr>
                </a:solidFill>
              </a:defRPr>
            </a:pPr>
            <a:r>
              <a:rPr sz="750" b="0">
                <a:solidFill>
                  <a:srgbClr val="FFFFFF">
                    <a:alpha val="70000"/>
                  </a:srgbClr>
                </a:solidFill>
              </a:rPr>
              <a:t>Official corporate deck | English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50BFE-DEEE-45DE-80D1-567DCF1E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>
                    <a:alpha val="70000"/>
                  </a:srgbClr>
                </a:solidFill>
              </a:defRPr>
            </a:pPr>
            <a:r>
              <a:rPr sz="750" b="1">
                <a:solidFill>
                  <a:srgbClr val="FFFFFF">
                    <a:alpha val="70000"/>
                  </a:srgbClr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03749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FBB9E7-448A-4757-A962-04B2F76B1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73437-D4A2-4A38-A5BB-0916F8D2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A45B9-D8F6-4D39-B718-EB8F2BB8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99b2d98f59498d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B750D-10B8-4237-AC10-EE33CFA9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44A20-2365-4553-A4AB-04992EEC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6592F-8124-4519-979F-FCF1B495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30-SECOND PITCH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4CF8F5-50BD-457D-914F-91501236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Executive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647DF3-D25C-490C-8B09-E99F26D6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F250E-DC96-4FFA-866E-FCA7562D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F9D99-AB81-4C3A-9AEF-24BEA765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93D62-3DCD-4466-BC86-5A5D54B4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657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2"/>
                </a:solidFill>
              </a:defRPr>
            </a:pPr>
            <a:r>
              <a:rPr sz="2100" b="1">
                <a:solidFill>
                  <a:srgbClr val="0E1422"/>
                </a:solidFill>
              </a:rPr>
              <a:t>Percevia AI turns web accessibility from a one-time audit into a repeatable operational process.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41907-43D9-4694-965F-45198C22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70"/>
                </a:solidFill>
              </a:defRPr>
            </a:pPr>
            <a:r>
              <a:rPr sz="1350" b="0">
                <a:solidFill>
                  <a:srgbClr val="4B5570"/>
                </a:solidFill>
              </a:rPr>
              <a:t>- Scans real pages with Playwright, Chromium, and axe-core.</a:t>
            </a:r>
          </a:p>
          <a:p xmlns:a="http://schemas.openxmlformats.org/drawingml/2006/main">
            <a:pPr algn="l">
              <a:defRPr sz="1350" b="0">
                <a:solidFill>
                  <a:srgbClr val="4B5570"/>
                </a:solidFill>
              </a:defRPr>
            </a:pPr>
            <a:r>
              <a:rPr sz="1350" b="0">
                <a:solidFill>
                  <a:srgbClr val="4B5570"/>
                </a:solidFill>
              </a:rPr>
              <a:t>- Tests desktop, tablet, mobile, and key interactive states.</a:t>
            </a:r>
          </a:p>
          <a:p xmlns:a="http://schemas.openxmlformats.org/drawingml/2006/main">
            <a:pPr algn="l">
              <a:defRPr sz="1350" b="0">
                <a:solidFill>
                  <a:srgbClr val="4B5570"/>
                </a:solidFill>
              </a:defRPr>
            </a:pPr>
            <a:r>
              <a:rPr sz="1350" b="0">
                <a:solidFill>
                  <a:srgbClr val="4B5570"/>
                </a:solidFill>
              </a:rPr>
              <a:t>- Groups repeated defects by likely root cause.</a:t>
            </a:r>
          </a:p>
          <a:p xmlns:a="http://schemas.openxmlformats.org/drawingml/2006/main">
            <a:pPr algn="l">
              <a:defRPr sz="1350" b="0">
                <a:solidFill>
                  <a:srgbClr val="4B5570"/>
                </a:solidFill>
              </a:defRPr>
            </a:pPr>
            <a:r>
              <a:rPr sz="1350" b="0">
                <a:solidFill>
                  <a:srgbClr val="4B5570"/>
                </a:solidFill>
              </a:rPr>
              <a:t>- Creates remediation tasks, reports, comparisons, and monitor schedules.</a:t>
            </a:r>
          </a:p>
          <a:p xmlns:a="http://schemas.openxmlformats.org/drawingml/2006/main">
            <a:pPr algn="l">
              <a:defRPr sz="1350" b="0">
                <a:solidFill>
                  <a:srgbClr val="4B5570"/>
                </a:solidFill>
              </a:defRPr>
            </a:pPr>
            <a:r>
              <a:rPr sz="1350" b="0">
                <a:solidFill>
                  <a:srgbClr val="4B5570"/>
                </a:solidFill>
              </a:rPr>
              <a:t>- Keeps AI and visual evidence opt-in, bounded, and auditable.</a:t>
            </a:r>
          </a:p>
          <a:p xmlns:a="http://schemas.openxmlformats.org/drawingml/2006/main">
            <a:pPr algn="l">
              <a:defRPr sz="1350" b="0">
                <a:solidFill>
                  <a:srgbClr val="4B5570"/>
                </a:solidFill>
              </a:defRPr>
            </a:pPr>
            <a:r>
              <a:rPr sz="1350" b="0">
                <a:solidFill>
                  <a:srgbClr val="4B5570"/>
                </a:solidFill>
              </a:rPr>
              <a:t>- Avoids certification language and does not guarantee legal compliance.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DE8BC1-813C-4298-B8E2-B1F78DAD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1809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DD8F38-EE73-4F26-B297-AA65EB53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288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A6CF0"/>
                </a:solidFill>
              </a:defRPr>
            </a:pPr>
            <a:r>
              <a:rPr sz="2850" b="1">
                <a:solidFill>
                  <a:srgbClr val="7A6CF0"/>
                </a:solidFill>
              </a:rPr>
              <a:t>33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31272-9862-4037-9E48-D89BDC79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622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analysis variants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7656C-85FA-454C-9FA1-96C0F05B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670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Max per page.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95538-F063-46B0-8F84-43459739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1809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83158-4044-49E7-ADBA-D01AD428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2885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FA67A"/>
                </a:solidFill>
              </a:defRPr>
            </a:pPr>
            <a:r>
              <a:rPr sz="2850" b="1">
                <a:solidFill>
                  <a:srgbClr val="3FA67A"/>
                </a:solidFill>
              </a:rPr>
              <a:t>323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3DE8E-109A-4790-90A8-124CD25C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622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passing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F1F25-9210-4F04-B003-9F83AFA9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6705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Unit and integration checks.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4C6B32-639B-451E-A0FB-2B1CE360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1809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0C340-61AF-429F-97CD-F1A111A1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2430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A7BFF"/>
                </a:solidFill>
              </a:defRPr>
            </a:pPr>
            <a:r>
              <a:rPr sz="2850" b="1">
                <a:solidFill>
                  <a:srgbClr val="4A7B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E5717-1EAB-46D2-B5FC-95A3745C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export formats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1DE55-7EC3-4D6E-9C30-8FA6823D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625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HTML, PDF, CSV, and JSON.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1A9D68-045E-4151-875D-4A0F2562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33800"/>
            <a:ext cx="1809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CB404F-C05E-41A3-B94C-C0CAEF96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24300"/>
            <a:ext cx="1352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28A2E"/>
                </a:solidFill>
              </a:defRPr>
            </a:pPr>
            <a:r>
              <a:rPr sz="2850" b="1">
                <a:solidFill>
                  <a:srgbClr val="C28A2E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6C224E-0926-42B5-972A-E974B0D7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4577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plan tiers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EC9529-1940-4200-B66D-67A0F216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62500"/>
            <a:ext cx="135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Free through Enterprise.</a:t>
            </a:r>
          </a:p>
        </p:txBody>
      </p:sp>
    </p:spTree>
    <p:extLst>
      <p:ext uri="{BB962C8B-B14F-4D97-AF65-F5344CB8AC3E}">
        <p14:creationId xmlns:p14="http://schemas.microsoft.com/office/powerpoint/2010/main" val="15641436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27635F-B8D8-4C0B-B384-7DC80499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3EF90-9ED5-419A-8165-ACB5E394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8937B-B0AD-4256-AF53-906B41B8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0d682218545d8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835EB-9DF8-4F99-9ADE-DE062A19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3F590-1C59-4EA0-B4DB-DF8AFB94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2DB96-1184-4133-A16A-AD3BA64C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MARKET AND WORKFLOW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DD3314-69C7-4AB0-B5F3-DC93387B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The problem Percevia AI solves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6E04D-FA94-4526-865F-D69FA5CF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1F3D0-29FD-4E6E-80E4-1DCDF3B1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EBF9E4-C587-455E-BA86-27530590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36ACE6-F4AC-467A-BC79-84B146B0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33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E5F05-BDC0-4F97-A31D-F17C011A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5A"/>
          </a:solidFill>
          <a:ln xmlns:a="http://schemas.openxmlformats.org/drawingml/2006/main" w="0">
            <a:solidFill>
              <a:srgbClr val="B747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CFD1E-0CAA-4F10-A428-A869658C9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C03914-2271-498F-A141-ACEEDDF5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288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77B81-CF01-4768-9546-FAA0A151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Tools produce noise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BD6F9-50DD-4E29-A7BD-A78C3186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Accessibility scanners often return hundreds of repeated findings without explaining shared root causes.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5CFE15-F5EB-4422-9727-A4114774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52650"/>
            <a:ext cx="3333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ED8ED6-453C-4E13-8B38-A6C7C72C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526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009D8-81C8-4BE8-8D7F-AB532C1E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87154-10B2-4D0A-925F-09ED9FB1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288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498DAD-6790-40C6-8FAB-C0D6A9A2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622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Teams lack priority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01F4CA-8050-4542-B764-F7D18C0C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241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Developers, PMs, and auditors need severity, risk, affected pages, and owner-ready tasks.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CE7F50-E204-4BE2-9133-C87404BF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333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89A1C8-FD71-4AD7-B313-6D6DB64E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E79B1D-7644-4E87-8A61-22A94B7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CA88A0-D37C-45D3-B701-1AAE6E01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42C41F-E6C2-43F3-92D7-EA44E81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622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Reports are fragmented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F47128-829E-45B2-8424-1CEFC86A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241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Executives need a clear risk story while developers need technical evidence, WCAG tags, and selectors.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5B2F45-5C97-4DA9-B0BF-131B20CD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33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D9C889-108B-4E92-B1F6-8E7D0EDB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491062-EAD2-46D4-AC3C-0BA97BD8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AAED5C-53EE-4740-9128-CE8D7ED4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909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AD025C-54A6-4EF4-8C28-1716B322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243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Audits do not stick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3354D4-1568-433B-A0DF-7FA8E066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862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One-time audits miss regressions unless teams can re-scan, compare, and monitor over time.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45A06E-EFEC-43E9-A9E3-A4154074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3333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C9E835-1387-45EA-9452-F10A3F47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147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E6999C-BC5C-44E2-B9A5-23C92C6E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24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CD58A0-7D53-4F82-A155-476CA454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909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2EFCFE-1222-4CA0-B05F-558B5D42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9243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Privacy is unclear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B732A0-96FF-44C0-86BF-D68F1992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Screenshots, HTML samples, AI processing, and retention must be controlled with explicit consent.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A0978A-B750-4208-85C1-6D622DC5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3333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00A98E-CB2C-4D84-8C73-0D9351A0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147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DA6C94-80FD-470E-A5A6-5FB80717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24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AF985D-269B-47AC-B5F7-1BD46197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909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8D245C-A043-4503-89D1-7937A59D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243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Compliance claims are risky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0D4DF4-5052-46E4-A38F-7281345E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2419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Automated results must support decisions without implying certification or legal guarantees.</a:t>
            </a:r>
          </a:p>
        </p:txBody>
      </p:sp>
    </p:spTree>
    <p:extLst>
      <p:ext uri="{BB962C8B-B14F-4D97-AF65-F5344CB8AC3E}">
        <p14:creationId xmlns:p14="http://schemas.microsoft.com/office/powerpoint/2010/main" val="852250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54EE8A-C92B-49FF-9D25-780755A1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17256-A7A4-46F7-A9B4-F97EB416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11282-2637-47C7-8086-0582FB03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c462bb40f4e03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C196C-D02E-4ABD-A32F-2D6692F8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02B6F-371A-4D4C-A7C1-99676E9E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62AED-D8AF-4A73-A47E-11EF626F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FROM DETECTION TO 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FB2C6-1A53-4C20-A6FF-5E42C53D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Product approach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04603-8512-4E76-BDEE-0E0969B1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FFA24-C1BB-45B1-89A9-47492FAE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F1A73-3053-4DB2-9FA0-9AA523F7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21EA1-31CE-4614-914B-B0F09DF0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3247"/>
                </a:solidFill>
              </a:defRPr>
            </a:pPr>
            <a:r>
              <a:rPr sz="1650" b="1">
                <a:solidFill>
                  <a:srgbClr val="2A3247"/>
                </a:solidFill>
              </a:rPr>
              <a:t>Percevia AI is designed as an accessibility operations loop, not just a scanner.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FF070-6B96-46DB-BB90-A3F9BD75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574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38E731-C634-48FE-B352-0A781952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B02DA-1744-40AA-AC88-74BBBB70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5BAD79-521F-4AEC-93FB-A98C4629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Detect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016CF5-15B7-48B6-ACD9-7FEBB09D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Run real-browser scans across pages, states, and viewports.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678AB0-1C94-4E61-9D89-A87ADAD0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57187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272DD-3B5A-4540-88B9-8E47B9AA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57500"/>
            <a:ext cx="20574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8F598C-9291-4013-8AD0-061D9DA0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28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22DB12-F0A9-42CC-AEA5-733C1017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32306-A1EA-41AB-9096-C5C50402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Group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19229E-BFA0-46A1-941E-1A6280EB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576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Normalize axe results and merge repeated defects by root cause.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442808-56A0-40A0-A5A1-D159DC5A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57187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D32D6-AF6D-435F-BA57-C5C28841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57500"/>
            <a:ext cx="20574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AA6921-E6B3-4563-A8B5-C8CF0D22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7CC9F8-E476-4663-B380-9305E1C8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A1E4A2-B1E1-4F8C-8DF4-C4844A87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Prioritize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47C14-D41A-4DB0-89DF-588712AA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576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Calculate score, risk, impact, and affected scope.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08A91B-78F0-4E1E-B301-FDBE8FE0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57187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67649B-4041-4CCF-81DC-4317F34E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57500"/>
            <a:ext cx="20574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A80345-5F4E-4D36-9AF4-14C36A67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28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3E3CC7-7EE6-4F27-AB96-CD5E243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BFC1B2-5811-4554-A5E2-257428A6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Assign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C86195-3E34-48F7-B520-E696BD57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576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Convert findings or groups into remediation tasks.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4E1263-A8F7-41E4-94BF-30641904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57187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6D0598-4CFC-472F-B48D-E6BFBF1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20574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DA0178-A148-4E23-AAFC-FE838EEE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289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0712EB-FC57-482C-9D1F-00D9CE14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051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BC1028-2597-4F84-9732-AB142C8C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24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Verify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577EA5-D3FE-4367-966F-C9BDAFD8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576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Re-scan, compare, report, and monitor for regressions.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4CFEE7-9D3A-425C-8041-41C74127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43500"/>
            <a:ext cx="9525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EFEDFE"/>
          </a:solidFill>
          <a:ln xmlns:a="http://schemas.openxmlformats.org/drawingml/2006/main" w="9525">
            <a:solidFill>
              <a:srgbClr val="DDD8F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276DE3-4965-4635-942E-F62EA193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334000"/>
            <a:ext cx="887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4FD9"/>
                </a:solidFill>
              </a:defRPr>
            </a:pPr>
            <a:r>
              <a:rPr sz="1350" b="1">
                <a:solidFill>
                  <a:srgbClr val="5E4FD9"/>
                </a:solidFill>
              </a:rPr>
              <a:t>Operating principle: automated analysis is decision support. Human review remains part of the accessibility process.</a:t>
            </a:r>
          </a:p>
        </p:txBody>
      </p:sp>
    </p:spTree>
    <p:extLst>
      <p:ext uri="{BB962C8B-B14F-4D97-AF65-F5344CB8AC3E}">
        <p14:creationId xmlns:p14="http://schemas.microsoft.com/office/powerpoint/2010/main" val="205298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2F5423-97CC-4E1A-A082-48A31B92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F6DB0-1B5A-433D-95D9-5DB72DE7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FF826-D9D2-4B05-BEF1-CC2E583E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e328469e04f1e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9B356-A0D8-4C5A-96E8-C900993C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278670-1DDC-4E10-91D9-151C5FCC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9F3D6-DFEF-4FC1-B9DE-4D2BCB7D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CURRENT PRODUCT SURFACE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76FD7-D7B0-44BD-84A3-CAD4EB8A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Capability 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99997-E56F-45AB-B541-3927D7F0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20B05-9A91-44F4-BFEC-5FF5BBFF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FAFBC-3D5B-4CE3-8070-F2924D4D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C9FB3-78ED-4A3C-9DFB-C78A033B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00250"/>
            <a:ext cx="4533900" cy="3295650"/>
          </a:xfrm>
          <a:prstGeom xmlns:a="http://schemas.openxmlformats.org/drawingml/2006/main" prst="roundRect">
            <a:avLst>
              <a:gd name="adj" fmla="val 46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284ddbad9a4f57"/>
          <a:srcRect xmlns:a="http://schemas.openxmlformats.org/drawingml/2006/main" l="0" t="40736" r="0" b="407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2076450"/>
            <a:ext cx="438150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9D481-A8AC-4430-A50D-872A8ED3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6479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AE2C5-D9DB-469C-83A8-CD0D374C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47EBC-8A05-4A1C-ADB6-706FE762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Scanning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8BCD1-DEDE-4169-8DFC-1823F13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1907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Single, multi-page, sitemap, and manual URL list modes.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F5CFC-DC46-40D0-B613-9B519DBC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26479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E09F31-9BB2-426B-87A6-DA157BBB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145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5F89D-33B2-462E-B84B-580CB026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241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6FC50-2AD8-4222-88F0-F5897E1D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86050"/>
            <a:ext cx="21907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axe-core normalization, WCAG tags, severity, review flags.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3351E-39B3-41AC-974A-9EF32EB9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6479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6FF01B-A6A8-4F62-9456-EDD9D0E9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839546-38D3-491F-9068-8B7CF8FA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Operations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FAEF6F-B6F4-4CBA-92C0-FDCCDC1E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1907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Statuses, root-cause groups, remediation tasks, comparison.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568706-A321-4E31-8758-4C23644A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6479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B4B1EF-503B-46A4-9D30-4E039CF9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9055AB-0819-4582-B543-08F33121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62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27FEBA-2D72-40B5-B32C-7144D21D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24250"/>
            <a:ext cx="21907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Opt-in explanations, code suggestions, and project assistant.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6BCB87-441F-42DF-AA63-2DABC7FE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6479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9C174E-0743-4619-81DB-C91AF579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93BF0A-849A-4FA2-BFA9-1FB946E5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FBFF86-8EA6-47FF-9BC2-BA0CB4FB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21907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Opt-in screenshots, selector metadata, redaction, expiry.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F929F8-AB00-458C-9D6D-1708F6D2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26479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F583F4-7041-4CD7-B560-F199F50F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B39073-2C9D-425C-AA23-0633382D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005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Reporting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BC753B-3BCD-4B93-89B7-0B0B7DA5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62450"/>
            <a:ext cx="21907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Executive, technical, CSV, PDF, JSON, and public links.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2E39C0-F415-4EDC-9F6C-0E40375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6479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C913A4-94FA-4E56-8C97-2ECE445F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F242AC-5DEF-46A4-B1C4-8748C329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Monitoring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7C5027-7AA4-467C-BFFF-3B8D076A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21907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Plan-based recurring scans with stored thresholds.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0195C4-9CE6-47A8-ADBA-3E199014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29150"/>
            <a:ext cx="26479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ACEA4D-F2A1-4825-B195-FF29DDD5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291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37344D-6908-4819-944C-491590EF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387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Governance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1468C0-C531-4778-8B1A-2236C50A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00650"/>
            <a:ext cx="2190750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Roles, privacy center, audit logs, export, deletion.</a:t>
            </a:r>
          </a:p>
        </p:txBody>
      </p:sp>
    </p:spTree>
    <p:extLst>
      <p:ext uri="{BB962C8B-B14F-4D97-AF65-F5344CB8AC3E}">
        <p14:creationId xmlns:p14="http://schemas.microsoft.com/office/powerpoint/2010/main" val="7043702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2A9EA3-E0B7-46D9-8B0A-D9C0CD7E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DB98D-D055-45B6-BBEE-5614057E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2803C-B123-4E9F-9B4E-7C0CF85D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3d9479aa346a1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36691-7CF1-461F-93FC-B3097F35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43F9A9-9D07-4F2F-8576-FD6B5231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AF194-70DC-493E-A34C-EDC1664E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WHO THE PLATFORM SERVES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D17F5-DD3F-4A3E-85D7-6B1532D5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Audience and role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6DD7D6-6BEF-4F7C-A869-6BF08E05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46EC6-FC2D-4D8A-8D1D-93942882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785B0-1CE9-42D1-8F44-64511B00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0E21D-2BFD-477D-B8F8-44900AA5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32575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D05BC-44E8-41CE-BC7F-4A5E7145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A7B17-A642-49EE-AF82-4687BE32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E0355-23B2-4D22-9278-F0C2FDE1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98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8EC9B-2D58-451F-8FBE-51F1C829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Product managers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CB1A6-D6CF-422F-A35C-8412B1B6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051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Visibility into risk, scope, roadmap, and progress.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E38952-BF63-4F62-BCF8-90D61CF6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32575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F52D0-FCA4-4BC8-BAD3-6E4C6A47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336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FE81FD-4B35-4EFC-9C8A-EF11C73F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4E3852-E82B-4D61-8615-FFD1ECED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098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34761-672E-48C9-85F1-C22F1835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431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Developers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CD1256-F150-4EB0-9D51-547216BE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051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Selectors, failing HTML, WCAG tags, code guidance, tasks.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A9FF27-9B14-4BDB-A0D7-56874066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32575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63132A-41E0-45EF-A14F-E4C49E4C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336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412304-DF71-4CEF-9FB3-DCB44CB9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06F24E-91B1-4689-8C32-62D090CD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98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2E8A9B-7D9F-4F05-A49F-C50894C3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Auditors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8951EE-4F45-4373-86D3-2B1209EB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051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Review flags, false-positive states, manual checklist support.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EE951-AF0F-43C1-9500-B9F17039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2575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606F08-8E44-4407-A241-7B85C478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6B9291-7E4E-40CB-8FBA-07E2D364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8664F2-FA57-4162-B225-12B4F821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64FF70-D482-400D-AA19-E73796BF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004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Agencies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D7B056-413E-41EF-B353-EECE4BF6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624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Multi-client reporting, client viewers, branded exports.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F6FAC3-FA95-443D-BD85-646A936B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32575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98BFF0-11E7-4657-A22D-40A6DA63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5A"/>
          </a:solidFill>
          <a:ln xmlns:a="http://schemas.openxmlformats.org/drawingml/2006/main" w="0">
            <a:solidFill>
              <a:srgbClr val="B7475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88D1A9-3F98-4E39-BED3-DBA85966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00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32742D-612A-4660-829B-0721BE93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671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C6BD0C-262C-4165-94A3-081C7C0D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004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Executives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33E014-BF31-41F0-B75C-882CC6D9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9624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Readable risk summaries without low-level technical noise.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B2A222-2AA3-4321-BE42-21332A0B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90900"/>
            <a:ext cx="32575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AE02C7-AAAA-4929-B6D4-22FE8274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909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265C82-DBE5-4DE3-87BD-B272507F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1D94FD-849C-48C4-8A4B-E0DCD864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671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7BC00F-0DEF-4919-BDD1-73821C7F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0045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Privacy teams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46D8DA-E157-4D01-B1C6-35A09386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62400"/>
            <a:ext cx="2343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AI consent, screenshots, retention, deletion, audit logs.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D29A0E-1B3B-4EB3-9B68-98F9408C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4AD9E0-C35B-4D41-91CF-2F01D7DA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Roles include owner, admin, developer, auditor, client_viewer, and report_viewer.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D6EDA4-F76D-4B2B-98BF-579FF51D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Permissions separately control scan creation, AI access, report export, billing, privacy, team management, deletion, and remediation.</a:t>
            </a:r>
          </a:p>
        </p:txBody>
      </p:sp>
    </p:spTree>
    <p:extLst>
      <p:ext uri="{BB962C8B-B14F-4D97-AF65-F5344CB8AC3E}">
        <p14:creationId xmlns:p14="http://schemas.microsoft.com/office/powerpoint/2010/main" val="190736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6C5A07-34FA-40F5-93BF-B29B1BAF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D86FBE-7BB7-41E6-BD0A-BBE6177C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346C3A-5022-460B-9BD1-2F7493CE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508016d034964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D3B09-02B4-4876-8CB5-10CC889F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0D9D1-FB5E-4610-A7F3-73099B5E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2DE2A-AF51-498A-ADFF-A0DC0747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IMPLEMENTED, GATED, INCOMPLETE, ROADMAP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4A526-F921-43E3-9E2B-4F253D73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Product scope and current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27883-E3C8-4BC8-80C1-A2122F43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9D42A5-F0DA-456E-9F09-6D72C82C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25A65-DAA0-4B84-8E93-50137223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E598A-F65F-421B-A4C8-210E44C4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476500" cy="2952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58A22-82BA-4612-9D78-A04AC503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57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EB46D-FD4B-474C-9F4F-C49133A6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Implemented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AC436A-9AFE-4242-AB09-4E53B213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Auth and onboarding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Scan creation and results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Root-cause grouping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Tasks and statuses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HTML/CSV/JSON reports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Privacy center and deletion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Team invitations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63B59-BFC7-4553-988D-78C5858B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71700"/>
            <a:ext cx="2476500" cy="2952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E3CDE2-126B-4B32-9DE8-2691AD72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457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077EE1-878C-4871-8E2F-14E267ED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Configuration-dependent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FB7E5-8CB8-4D63-A523-05EDDB35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670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OpenAI explanations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Visual evidence storage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Polar billing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PDF report generation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White-label public reports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8D3370-F892-49FB-9154-90FA606F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71700"/>
            <a:ext cx="2476500" cy="2952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8EB8D-EFF9-4E5B-805A-89144428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457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429027-F638-48BD-A4F5-6B0E2AFA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Incomplete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4F1CBB-846F-4FF7-96C5-C4FC9B90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Monitor email delivery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Slack alert delivery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Some stale UI or docs copy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Lint quality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43790D-E41E-43A4-9722-AE1B1F95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71700"/>
            <a:ext cx="2476500" cy="2952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942FF-C8FD-4097-8345-61C8726E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81250"/>
            <a:ext cx="4572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E26932-C48D-4FE6-ADD9-7D4B973E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289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Roadmap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48D9F9-C29A-4353-A8C5-CE144498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670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Enterprise SSO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Private scanner agent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Dedicated regions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Large inventory</a:t>
            </a:r>
          </a:p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- Jira/Linear/GitHub integrations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952C86-4485-4298-AEE1-83DFA7A4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1021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3247"/>
                </a:solidFill>
              </a:defRPr>
            </a:pPr>
            <a:r>
              <a:rPr sz="1200" b="1">
                <a:solidFill>
                  <a:srgbClr val="2A3247"/>
                </a:solidFill>
              </a:rPr>
              <a:t>The product is feature-rich today, but several commercial and operational features depend on production configuration or near-term follow-through.</a:t>
            </a:r>
          </a:p>
        </p:txBody>
      </p:sp>
    </p:spTree>
    <p:extLst>
      <p:ext uri="{BB962C8B-B14F-4D97-AF65-F5344CB8AC3E}">
        <p14:creationId xmlns:p14="http://schemas.microsoft.com/office/powerpoint/2010/main" val="18089911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C0C470-D56A-476D-A793-BCF9B8BC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A582F-50B4-41A3-8BE8-CE6535DE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630AE-7D45-4253-9AA3-7408B0C3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f6373b36e145fb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6A1154-96A5-4D32-B066-9DB0C98B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463095-925B-4B66-99EF-FE63C266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05F539-3298-45A9-B8C1-502B299C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FROM WORKSPACE SETUP TO VERIFICATION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E89BB-F2BE-4116-8BD9-FD9F7A73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End-to-end user journey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85445-74E1-4E2A-9242-66FCBC0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12CAD7-24E1-491F-A96F-971296A6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E455D-5B91-45DC-958F-1A14296A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08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2FEF6-84EE-4462-ACC8-1C8C4EBC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38350"/>
            <a:ext cx="45529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31092689a4e42"/>
          <a:srcRect xmlns:a="http://schemas.openxmlformats.org/drawingml/2006/main" l="8085" t="0" r="80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19900" y="2114550"/>
            <a:ext cx="440055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EFD76-120C-4E0E-A823-B202DDFD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290638" cy="1828800"/>
          </a:xfrm>
          <a:prstGeom xmlns:a="http://schemas.openxmlformats.org/drawingml/2006/main" prst="roundRect">
            <a:avLst>
              <a:gd name="adj" fmla="val 11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A9B3E-AD64-4C8C-A056-554E76F3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70262-32C5-4992-818B-CCBD8550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BF2938-728B-404E-8E3A-463CC8DF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9477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Discover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E0A15-0531-4FFE-9330-85FB8844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94773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Review positioning, pricing, privacy stance, and scan method.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FA847-8A56-41D7-B36D-228B0E89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763" y="303847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7D0236-2B71-4288-96D4-6246D5B5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688" y="2266950"/>
            <a:ext cx="1290638" cy="1828800"/>
          </a:xfrm>
          <a:prstGeom xmlns:a="http://schemas.openxmlformats.org/drawingml/2006/main" prst="roundRect">
            <a:avLst>
              <a:gd name="adj" fmla="val 11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FBD2C-DF2D-4D6A-BF80-04153DB7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8" y="2438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07237-A1D6-42FC-A95B-80CDE355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8" y="251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C03E92-D06A-46E5-BF58-506C24D1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8" y="2933700"/>
            <a:ext cx="9477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Onboard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E81A45-219D-4FBF-8282-E9D60A30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138" y="3267075"/>
            <a:ext cx="94773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Create workspace, company profile, standard, region preference, and plan.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A5DB8A-F6D5-4DEA-A910-DA89198E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3847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4EA0C5-4B9D-4810-8A37-C7FFB968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66950"/>
            <a:ext cx="1290638" cy="1828800"/>
          </a:xfrm>
          <a:prstGeom xmlns:a="http://schemas.openxmlformats.org/drawingml/2006/main" prst="roundRect">
            <a:avLst>
              <a:gd name="adj" fmla="val 11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BFB70F-FE58-494A-A2E1-E1593AE7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38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05CF84-8B1D-4C5A-B6F2-01008FE0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1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FBE18F-B82A-45A9-9BCF-7FDA6D74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933700"/>
            <a:ext cx="9477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Scan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30137-249B-49C6-A555-6677CDB3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267075"/>
            <a:ext cx="94773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Choose source, page limit, authorization, AI, and screenshot options.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16E562-9AD5-4BA8-89F3-DDE09183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3938" y="303847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808F59-109A-425B-BAFF-195F7CA6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863" y="2266950"/>
            <a:ext cx="1290638" cy="1828800"/>
          </a:xfrm>
          <a:prstGeom xmlns:a="http://schemas.openxmlformats.org/drawingml/2006/main" prst="roundRect">
            <a:avLst>
              <a:gd name="adj" fmla="val 118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8316BB-F36B-41AF-9103-9DF0BFE2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2438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60F986-8520-4A7A-976D-D13D3A25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251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42C619-01E4-4D7E-94E9-08A471FD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2933700"/>
            <a:ext cx="9477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Remediate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2DD57E-8AF6-47EB-BBF3-BFA49932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7313" y="3267075"/>
            <a:ext cx="947738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Review groups, create tasks, assign status, and re-scan.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C02B1A-B13A-4D39-B3F2-E9C667E7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676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D8AFF9-35CC-40F6-9ABA-9CF24522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2D87A2-84E1-407B-B7C7-AD927AA3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Reporting loop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C794B8-4681-4D51-8677-18446D80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5219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Completed scans generate executive, technical, CSV-oriented, and public-shareable outputs. The same scan history supports future comparison and monitoring.</a:t>
            </a:r>
          </a:p>
        </p:txBody>
      </p:sp>
    </p:spTree>
    <p:extLst>
      <p:ext uri="{BB962C8B-B14F-4D97-AF65-F5344CB8AC3E}">
        <p14:creationId xmlns:p14="http://schemas.microsoft.com/office/powerpoint/2010/main" val="10822554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C4A4ED-1ECF-4602-A726-43FE09AE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B4669-11A9-470F-95B7-D4963708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CC223F-A983-4946-AB62-3BD4E03D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3fd6ac65e4e8d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F0CCF4-D2D8-4DD4-8BD5-E7111C86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8DA69-422B-4BD5-8191-4BF09A65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8EF47-5A16-4A7F-8A77-20A2762C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PRODUCTION TOPOLOGY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E7DCB-231E-4D8D-91DE-7E7AD1FC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Current system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9D862-08DF-42DE-B2DB-E7D9688D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2681A-C88E-463F-834D-6AA6AD5C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22888-11F2-4E13-B66D-D31346AFD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09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3A598B-6985-45DD-B0A1-9772B145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622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3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2A7DB-B5D1-4052-9178-A198CBA7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622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3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81C1E-DFF1-4CFF-86AA-1FEE1DC8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622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3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28A839-C5D3-41F5-A7DF-3BA11D7C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24200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3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BA1CF-39A5-43E0-8B70-EBBDFC22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124200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3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146D7-BF44-4FB8-A89B-CA476BD6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124200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D3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A66399-5AD4-4151-897A-DD95F8B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714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7300E-704A-4995-B145-08F4B402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User browser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17EDF-73B1-43F2-BFCA-D6FEAEAB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Dashboard, scan forms, reports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7381DA-5DC3-4B8B-8761-BD19BFF3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717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3DC215-3F2D-4613-B121-21F70D2A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050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Vercel Next.js 16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D74933-3453-451E-B347-0181CB31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7175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App Router, API routes, server session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76CF81-481D-49F9-8483-1C329460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717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8FDF20-3FD9-457C-A128-04B95461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050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Cloud Tasks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12AE69-8412-4E7C-AF14-F6A309C9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Durable scan activation and retries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8C4017-3E0E-4F97-BDAB-BA0AF711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717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3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DCEF17-50AD-4196-A1E2-0EE2FC7F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050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Private Cloud Run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727C2F-A33B-43B7-B61E-246F98D9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179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Worker service with Chromium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F9C4A0-8235-4B56-8520-2423A035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17195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FF2F8"/>
          </a:solidFill>
          <a:ln xmlns:a="http://schemas.openxmlformats.org/drawingml/2006/main" w="9525">
            <a:solidFill>
              <a:srgbClr val="CDD3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3319DC-704F-4637-BABF-E0878732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053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Firebase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20CAE0-B63B-4380-BA5A-307A2D03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720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Auth, session cookie verification, Firestore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F9792B-824A-40A5-9BBA-69053682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FEDFE"/>
          </a:solidFill>
          <a:ln xmlns:a="http://schemas.openxmlformats.org/drawingml/2006/main" w="9525">
            <a:solidFill>
              <a:srgbClr val="DDD8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DAAE25-2155-4085-BE2D-5BED929B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Playwright + axe-core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F0141C-3843-4EAF-8658-24700204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720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Real browser execution and accessibility rules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2C9A8C-5835-46E9-8C68-75A87B4F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7195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FF2F8"/>
          </a:solidFill>
          <a:ln xmlns:a="http://schemas.openxmlformats.org/drawingml/2006/main" w="9525">
            <a:solidFill>
              <a:srgbClr val="CDD3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4124DF-AACA-4F76-B453-E6AB007C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0530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External services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4799839-D055-48C1-9B74-2577E964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7200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OpenAI opt-in AI, Polar billing, Sentry/PostHog optional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DC4D6F-1918-4D7B-827F-55DDE4EC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9620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E98E5E-2525-40BE-81E6-1B40D554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6730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5143C5-C799-40AC-8963-ED9DF243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76850"/>
            <a:ext cx="916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Production stance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01737C-1411-4BF3-BFCE-B38BC255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38800"/>
            <a:ext cx="916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Scan creation does not run Chromium directly. It writes a queued job; Cloud Tasks wakes a private Cloud Run worker to claim, scan, persist, and aggregate results.</a:t>
            </a:r>
          </a:p>
        </p:txBody>
      </p:sp>
    </p:spTree>
    <p:extLst>
      <p:ext uri="{BB962C8B-B14F-4D97-AF65-F5344CB8AC3E}">
        <p14:creationId xmlns:p14="http://schemas.microsoft.com/office/powerpoint/2010/main" val="14217807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78D156-68C5-4FD2-950D-40585956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D826F-E906-42DE-B4DB-4BBEB6AE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DD872-443C-4A81-AAA0-3574A45F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2dd5dc8ea4f71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5E17B-BDEB-4725-9845-DC9557B7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6DC0A-C25D-4B7F-9D46-C7E2D997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E028B-F621-4B25-9E86-00850B88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ASYNCHRONOUS WORKER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E714C-E772-4EAB-BD55-473DCCF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Scan processing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7BEE3-F162-452B-A728-BFEA0965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561DD-A8EA-49FF-A197-73BC0922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02F27-DF4E-4C2F-8005-939A2ABF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F79CC8-740F-4751-87A5-25AF6C8E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0574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E8185-662D-4B66-88A5-EA2C4496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12E0C2-F093-4297-A4F5-3D0EE5D9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2A061-4562-44F3-94AD-D2E34C7C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422"/>
                </a:solidFill>
              </a:defRPr>
            </a:pPr>
            <a:r>
              <a:rPr sz="1050" b="1">
                <a:solidFill>
                  <a:srgbClr val="0E1422"/>
                </a:solidFill>
              </a:rPr>
              <a:t>POST /api/scans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788F2-181C-4CBB-A23E-59D3753A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Validate URL, plan, quota, concurrency, consent, and worker configuration.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97B3D-5FA0-40E7-91E4-962E5879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990850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C959D-1FD2-457E-8AAE-13C549AB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09800"/>
            <a:ext cx="20574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2CF20-4F13-4A4E-8E87-026FFE44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1944F0-4AC8-449A-B281-83505567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5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435898-B939-47F9-AE6F-E63083A3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422"/>
                </a:solidFill>
              </a:defRPr>
            </a:pPr>
            <a:r>
              <a:rPr sz="1050" b="1">
                <a:solidFill>
                  <a:srgbClr val="0E1422"/>
                </a:solidFill>
              </a:rPr>
              <a:t>Queue job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E7BA5-5781-4C55-91F8-F63ECED9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099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Persist scans/{id} with status=queued and enqueue a Cloud Task.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0F20B-B6AE-4486-9AFC-5078912C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90850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66AEBA-8567-488E-A58C-45C7C2BF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09800"/>
            <a:ext cx="20574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E039A3-D8E1-4B4E-BE5B-F715735F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1A75CA-AEEA-4566-ACC0-286F9D55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5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31398F-1262-420B-80CE-AEE721B3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422"/>
                </a:solidFill>
              </a:defRPr>
            </a:pPr>
            <a:r>
              <a:rPr sz="1050" b="1">
                <a:solidFill>
                  <a:srgbClr val="0E1422"/>
                </a:solidFill>
              </a:rPr>
              <a:t>Claim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C79EAA-4B21-49DF-BE53-7A2FB7EC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99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Cloud Run worker atomically claims the job through Firestore.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5AF64B-D551-4A3B-AFC5-8E73D626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990850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6D9163-4952-4114-9930-ED3924A4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20574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55A1F1-00C8-464C-AB43-01EE7CA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81BD43-508C-4948-BC5F-41D3642F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5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4D61A0-8DEA-4389-9686-ED451FF0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422"/>
                </a:solidFill>
              </a:defRPr>
            </a:pPr>
            <a:r>
              <a:rPr sz="1050" b="1">
                <a:solidFill>
                  <a:srgbClr val="0E1422"/>
                </a:solidFill>
              </a:rPr>
              <a:t>Page jobs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10DEBD-E58C-4CAA-A5CB-0332C46C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99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Resolve URLs, create pageJobs, run page-level scanning and retries.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008486-660F-4D6D-A332-1A6F5139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990850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5F4E84-73C9-4057-8E23-1D046F64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9800"/>
            <a:ext cx="2057400" cy="1847850"/>
          </a:xfrm>
          <a:prstGeom xmlns:a="http://schemas.openxmlformats.org/drawingml/2006/main" prst="roundRect">
            <a:avLst>
              <a:gd name="adj" fmla="val 82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4A554B-2008-48E3-9CF2-E743F757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381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AD1D1-58AE-4CA5-AF6E-B3A3CE61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574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410D6D-BC0D-4DCD-9908-90FD11B8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6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1422"/>
                </a:solidFill>
              </a:defRPr>
            </a:pPr>
            <a:r>
              <a:rPr sz="1050" b="1">
                <a:solidFill>
                  <a:srgbClr val="0E1422"/>
                </a:solidFill>
              </a:rPr>
              <a:t>Aggregate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D889A0-EA0A-4D94-B9CD-342A2440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099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Write summaries, groups, scores, evidence metadata, and terminal state.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8194C0-7619-4EDA-9EDB-B626DA27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3337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65298B3-BD1E-4D23-BB05-7AFE5BBA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CDA12C-8179-452F-8B75-702B0E61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Scan phases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DA5786-19F8-4FBB-9971-A11A290D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crawling, scanning, aggregating, completed, completed_with_errors, failed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418803-05A2-40F3-B471-62BD219F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76750"/>
            <a:ext cx="33337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D0A1AF-CED7-4161-8205-41C13EDA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767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84B7C5-4D7F-4BB9-B3EA-4E2376A1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863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Page-job states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093269-D9FD-4DF3-945F-59CE85A5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48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queued, running, completed, failed. One slow page does not block the full scan.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AA5104-8FBA-4255-B19F-06FCE2E8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333375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A50815-9557-447B-A9EF-83B7C213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767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4ADDDD-C297-4523-873F-6983DC30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863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Recovery behavior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21C8C4-968B-4424-8D99-AA030097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4825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Heartbeats, stale detection, queue timeout, sweeper, requeue, and aggregation restart.</a:t>
            </a:r>
          </a:p>
        </p:txBody>
      </p:sp>
    </p:spTree>
    <p:extLst>
      <p:ext uri="{BB962C8B-B14F-4D97-AF65-F5344CB8AC3E}">
        <p14:creationId xmlns:p14="http://schemas.microsoft.com/office/powerpoint/2010/main" val="7229574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8C54FA-30B9-4990-B261-1B58079A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26D91-4BA3-42E7-B10C-9CD1D890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C09BE-5A62-486A-BD7C-BD1D1082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7fc3831ac4acb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6501E-B5BB-43C2-9D0B-06F09449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FE360-6F6F-44D6-87BA-C256EBED2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C25A0-D386-44F0-933D-2883CF97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WHAT IS TESTED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8F937-EC46-4DFF-9410-53087F09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Scan engine technical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C567CA-213E-41C7-9324-996411C8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FCB77-A4BB-4AF6-AE5F-1BF81E25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10A7AF-334B-4D24-9EB0-8D33FB75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2B134-C39F-4F8E-BD68-6C270263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190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7CD1F-508C-4050-A17A-CFECD527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A7BFF"/>
                </a:solidFill>
              </a:defRPr>
            </a:pPr>
            <a:r>
              <a:rPr sz="2850" b="1">
                <a:solidFill>
                  <a:srgbClr val="4A7B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1FCFC-98E3-4696-9CE6-E7B4A8DF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scan 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D9FE6E-0EA4-45DC-AD98-6B06236A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single, multi-page, sitemap, manual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CC25F-6B92-4E1C-AA56-B740F320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52650"/>
            <a:ext cx="2190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61BF89-8BC2-40BA-8812-0E3C5445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A6CF0"/>
                </a:solidFill>
              </a:defRPr>
            </a:pPr>
            <a:r>
              <a:rPr sz="2850" b="1">
                <a:solidFill>
                  <a:srgbClr val="7A6CF0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54ACCF-0D0F-44F6-B443-3AADDACD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viewports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04CDB-BF15-4DE6-9904-68C71D75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desktop, tablet, and mobile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75A664-CFB4-407F-88B0-7CD07BA8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52650"/>
            <a:ext cx="2190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EB3C4-138D-4924-AEBF-BA4A1EF4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28A2E"/>
                </a:solidFill>
              </a:defRPr>
            </a:pPr>
            <a:r>
              <a:rPr sz="2850" b="1">
                <a:solidFill>
                  <a:srgbClr val="C28A2E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DF3CAB-9B16-4C04-9A5B-A857B118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765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interaction types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20AE04-2AAB-4280-BEDA-2A4D64A6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81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menu, dialog, accordion, tab, form focus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B2F1A-BFF0-460F-8FA4-00EB1F37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2190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C76F1D-F1BE-486C-AD24-BCD8622E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FA67A"/>
                </a:solidFill>
              </a:defRPr>
            </a:pPr>
            <a:r>
              <a:rPr sz="2850" b="1">
                <a:solidFill>
                  <a:srgbClr val="3FA67A"/>
                </a:solidFill>
              </a:rPr>
              <a:t>33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95CA5A-9E38-4526-B450-5A24987C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max variants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71548B-13C0-4891-9F1C-0C3E729B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81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viewport and state matrix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0A1BD5-278B-4737-8808-29FEADB9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3718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236CA-D2F6-4AED-9E95-FE57D2D9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C0DA57-AD90-4483-9CB0-50907A6D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Resource profiles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BBA31B-6A69-4BC6-9719-BC81268D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real loads styles, fonts, and images for better contrast and layout accuracy. minimal reduces cost but lowers accuracy.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D94241-C26D-4858-BB92-9FC3EF72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33718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3481C-F5A2-4325-819A-9A16B392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005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5A"/>
          </a:solidFill>
          <a:ln xmlns:a="http://schemas.openxmlformats.org/drawingml/2006/main" w="0">
            <a:solidFill>
              <a:srgbClr val="B747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257315-E3D0-41C1-A4CE-741AB6D6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100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Execution limits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BD3D64-731C-42E3-91C3-50531648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720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Response size cap, navigation timeout, axe timeout, page cap, scan cap, browser health checks.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127992-3B1F-4A3C-8FF4-162447516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33718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6D206AC-2552-49C9-A119-4C7BE418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EAA3AB-45D9-4305-A4EE-4DB2231B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100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Static fallback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D21A71-56C3-4D09-A593-FC4D51D7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Limited HTML scan if Chromium fails. It is low-confidence and not equivalent to real-browser analysis.</a:t>
            </a:r>
          </a:p>
        </p:txBody>
      </p:sp>
    </p:spTree>
    <p:extLst>
      <p:ext uri="{BB962C8B-B14F-4D97-AF65-F5344CB8AC3E}">
        <p14:creationId xmlns:p14="http://schemas.microsoft.com/office/powerpoint/2010/main" val="11607645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970A6D-D965-4D4F-8B4B-BA479EBB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B0ECD-50AE-4A9B-8B87-F07589CF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E0240-0D62-490F-B468-A32405E4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c93a1d3a1414a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C0D6D-CC47-4800-844A-B6406D2E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2194B-73C6-45AD-8BA6-C6996603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8233C-8725-4CB7-A2C6-C3DF2D9A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SAFE HANDLING OF USER-SUPPLIED TARGETS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ABCAD-541E-41EF-845F-D1E7C01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URL security and SSRF protection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9466A-603C-419F-9F30-0CE9510D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C40F7-77D8-4EC0-A9BA-8B9F9DFE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62B8A-17E2-4D2A-8CD3-4A99729B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83AA3-A880-4FED-A30D-BFCDB25F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3247"/>
                </a:solidFill>
              </a:defRPr>
            </a:pPr>
            <a:r>
              <a:rPr sz="1575" b="1">
                <a:solidFill>
                  <a:srgbClr val="2A3247"/>
                </a:solidFill>
              </a:rPr>
              <a:t>Opening customer-supplied URLs is one of the highest-risk parts of the system. Percevia treats URL validation as a layered security control.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7C87A-B4C0-4325-BBCE-FCF45DAF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0673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D28DE-CBEB-4974-8578-45E87612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EAB9A-C003-4349-91BA-8F06DF48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50E9F-476C-4CB7-BC41-6EE20241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5803AA-80BF-4FE5-BC15-EDFCE0F2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004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422"/>
                </a:solidFill>
              </a:defRPr>
            </a:pPr>
            <a:r>
              <a:rPr sz="1275" b="1">
                <a:solidFill>
                  <a:srgbClr val="0E1422"/>
                </a:solidFill>
              </a:rPr>
              <a:t>Protocol and host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F9105D-0F5E-46B4-8378-C77EE3F1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HTTP/S only, length limits, no credentials, no fragments, no reserved internal TLDs.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6095BF-ACCA-466A-8C8C-CE5AC316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90850"/>
            <a:ext cx="50673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7AAD34-0950-4CE0-9856-C0C74218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908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5A"/>
          </a:solidFill>
          <a:ln xmlns:a="http://schemas.openxmlformats.org/drawingml/2006/main" w="0">
            <a:solidFill>
              <a:srgbClr val="B747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EF4A4-1B81-4DB7-BA89-31289B78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004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5EE3BF-EDFD-4CD1-8391-A5459DA5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670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05357D-5A32-49A4-921A-4201A84F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04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422"/>
                </a:solidFill>
              </a:defRPr>
            </a:pPr>
            <a:r>
              <a:rPr sz="1275" b="1">
                <a:solidFill>
                  <a:srgbClr val="0E1422"/>
                </a:solidFill>
              </a:rPr>
              <a:t>Network ranges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0352E6-A002-4689-B50A-890CC6B7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6235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Private, loopback, link-local, multicast, IPv6 special ranges, and metadata IPs are blocked.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0FA377-1D6D-47F0-BD3B-E276153C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0673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9AFCF8-AE78-493B-9B08-794CD507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587302-696F-4F71-BB36-4E98A4C6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F3529E-FA82-4BDB-93BD-7385A2EC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53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38B9DF-8568-4EFA-B108-68369F70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386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422"/>
                </a:solidFill>
              </a:defRPr>
            </a:pPr>
            <a:r>
              <a:rPr sz="1275" b="1">
                <a:solidFill>
                  <a:srgbClr val="0E1422"/>
                </a:solidFill>
              </a:rPr>
              <a:t>DNS and redirects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DF0EBD-4A3F-4CC3-A5C0-55CB96B1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Every DNS result is validated, worker re-resolves, and final redirect URL is checked.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8E3B53-4E72-44BA-8587-FD9DE6F9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29100"/>
            <a:ext cx="50673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84064D-6778-46D2-B551-FEEEAF82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291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517E31-3AB9-4552-BFDD-1013DB872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38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1E80BD-4548-4A8A-B9AD-CD4E59749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053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AB576E-1EC0-40C7-AB32-2317795E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1422"/>
                </a:solidFill>
              </a:defRPr>
            </a:pPr>
            <a:r>
              <a:rPr sz="1275" b="1">
                <a:solidFill>
                  <a:srgbClr val="0E1422"/>
                </a:solidFill>
              </a:rPr>
              <a:t>Scope control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6A9765-6C13-40CE-8BEC-CA508266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00600"/>
            <a:ext cx="415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Manual and sitemap scans enforce same-origin URLs and explicit authorization confirmation.</a:t>
            </a:r>
          </a:p>
        </p:txBody>
      </p:sp>
    </p:spTree>
    <p:extLst>
      <p:ext uri="{BB962C8B-B14F-4D97-AF65-F5344CB8AC3E}">
        <p14:creationId xmlns:p14="http://schemas.microsoft.com/office/powerpoint/2010/main" val="4678054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7F4E9B-802E-4322-9C3F-B751C039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1138F-A70B-465D-9CA3-94B30768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DD60E8-33D9-4824-9CC0-75D7ECFA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bd6913a479405e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074AD-6D5D-467C-8974-C4E17964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8106B-351E-45C5-B6AD-5F3A0249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2C6F1-5FCC-4901-BE2F-923554E1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RAW AXE OUTPUT TO PRODUCT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557DA-7C92-41D9-8FD6-92F31604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Finding normalization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2E982-FB9E-44EB-93D1-E4F5333B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01377-2E24-48BF-BDB4-0782158B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C0F26-6551-4CDB-BB4E-BE87E3EA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DF9B8-EB1A-437F-8745-2466AFE2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614613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4A98E-F11B-4F00-9767-EC892168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A2AD9-D5F5-4F83-8FCB-F7A19845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5E790C-3D8F-47EA-ABBE-81532FDF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22717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axe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01393-9C8A-40E2-9C98-7F5E3692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2717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Rule, impact, help text, tags, nodes, failure summary.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1F5237-DF10-4BF9-BB15-44A61979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3067050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943F82-6917-49B3-BF24-98EBC68D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343150"/>
            <a:ext cx="2614613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ECA0DA-2987-4440-A1D7-8079A4CC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514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1158C7-6E6F-4DC8-A2E7-DDB9790D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59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919303-8691-4BF0-9A8C-EF16DFF6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009900"/>
            <a:ext cx="22717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normalized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7F042-8773-4F90-A7BC-9BB3FED9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343275"/>
            <a:ext cx="22717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Severity, category, selector, HTML sample, viewport, state.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9BDEAE-B9F0-4B61-9C6E-ED1A8368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67050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5EF33F-CDC0-4BE7-A961-9E326558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43150"/>
            <a:ext cx="2614613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02EB68-F85B-49EE-80A9-C88CA0B3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14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B5A81C-0BFF-411D-AC3B-177A6E0C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9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B4E07D-F20E-44A3-8461-292A8219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009900"/>
            <a:ext cx="22717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review 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FC88E0-1F64-4F9F-94AC-928E9DE4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343275"/>
            <a:ext cx="22717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Human-review requirement and confidence boundaries preserved.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6A8469-53F8-49A0-9673-D3B6B9DD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067050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CBF716-4D8F-4CF3-9F54-F2C8EF8E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343150"/>
            <a:ext cx="2614613" cy="1733550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0F2470-E297-4467-8927-C47CE27E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514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35458A-9C2F-46A2-AD21-7FFDA33F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5908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77A4A7-008A-450A-8949-B5655ADD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009900"/>
            <a:ext cx="22717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audit event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DC3896-82B3-4D8F-879F-63F665F1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343275"/>
            <a:ext cx="2271713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Status changes are recorded for traceability.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2A6C6C-71EA-43A7-A20E-DF64A89B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3333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2D2874-4755-466E-ADC9-C0E0B1C6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1E6165-B98F-49E4-888F-E4CA25AE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Finding statuses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B43551-0913-4EC9-9E83-EFFBCE19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to_review, planned, in_progress, needs_human_review, fixed, accepted_risk, false_positive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C982C4C-F14A-438C-9643-1EE2FEA0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95800"/>
            <a:ext cx="3333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C5A837-8E2C-44F6-9551-700085CA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95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C24FAC-E4F9-4F46-8D75-CD1586FC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053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Context retained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9F4F92-94A5-4E92-9D53-45D0C93F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673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Viewport, interaction state, page URL, selector, failing HTML, and WCAG tags.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EA355C-15C5-405B-81F0-66881BFD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3333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AC492-6EDB-4A17-A66A-F24A67EB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9580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32F035-1958-49FF-AA08-572892AE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053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Why it matters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03351E-4E36-4727-8462-57014180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673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Developers receive actionable detail while PMs can track status and progress.</a:t>
            </a:r>
          </a:p>
        </p:txBody>
      </p:sp>
    </p:spTree>
    <p:extLst>
      <p:ext uri="{BB962C8B-B14F-4D97-AF65-F5344CB8AC3E}">
        <p14:creationId xmlns:p14="http://schemas.microsoft.com/office/powerpoint/2010/main" val="150592871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6F6B28-190F-41E5-845B-F6EADAC3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CEEE8-78CC-419B-9919-15E446A6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68C03-8810-49D3-A5CE-7BE93446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6c3a8cfad4d0c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E9832-0C9E-4C9B-97D0-EF1FD265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28C20-FE9E-4109-A222-C20708CF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B3701-3B7C-4A0A-86AC-92EF4AA1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REDUCING OPERATIONAL NOISE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AE34B-BD74-40C9-8F95-A58CBB28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Root-cause grouping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A13DB-0576-46C3-AF11-FA7CAFCE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13A36-50DF-468D-AEC5-AC75D33F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989B10-34B2-49CF-8E37-73CBA6D2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22A7D-F387-4D76-9688-D898A2D0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886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3247"/>
                </a:solidFill>
              </a:defRPr>
            </a:pPr>
            <a:r>
              <a:rPr sz="1575" b="1">
                <a:solidFill>
                  <a:srgbClr val="2A3247"/>
                </a:solidFill>
              </a:rPr>
              <a:t>The system groups repeated defects into remediation targets so teams fix the underlying component rather than every repeated instance.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7A619-FEA0-4338-95BF-327F04FB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101346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0FBC9-C965-402D-8CC4-2F16C373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948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category + standard type + axe rule + normalized selector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6B5BD-5A5A-4178-AEDF-4164FFB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3909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3B89E-B863-4866-AA65-52217DD4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4C97D-87E0-453E-AAF7-71328D20D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Special case: contrast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C0265-57BB-4501-B064-0FF970DB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Color-contrast issues can be grouped by foreground and background color pair.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DCDA4-09FB-48C8-B207-DB1AE07A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33909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61F0DE-FDD7-44D4-80F9-FEBB2D0E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91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16BF3-8542-4698-8B0C-F5E17AAA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005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Separation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80412-CEC8-4783-BC36-E32FB128A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762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Human-review findings, WCAG findings, and best-practice findings remain distinct.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894748-3372-47AF-97FF-065BF7C3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33909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E3003-9C39-48CF-AA9B-6A640374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37770-DEFD-4117-9F92-E291F48A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005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Stored group data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95B0F3-B6CF-4E8E-9207-55618DE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625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Rule, title, worst severity, instance count, WCAG tag, remediation, and priority score.</a:t>
            </a:r>
          </a:p>
        </p:txBody>
      </p:sp>
    </p:spTree>
    <p:extLst>
      <p:ext uri="{BB962C8B-B14F-4D97-AF65-F5344CB8AC3E}">
        <p14:creationId xmlns:p14="http://schemas.microsoft.com/office/powerpoint/2010/main" val="7540177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6CA64D-2160-4CB9-92AA-2484CA3C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4D748-6A24-4103-91FA-75B97A43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0B350-B003-40CA-A1B8-DE8328B4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c6db9c71643e3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2619D-B913-45BF-B41E-603180BC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33240-ADAF-4495-804C-89EE87C8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A1705-3216-4745-A3A1-C185AE05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PERCEVIA-SCORE-V1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14E9E-04DB-4CAF-B5FF-EF26B26D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Scoring and risk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EFFEBE-4501-40E0-97E7-46E69D77A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42D66-CFCB-4117-9C03-58ECF15E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4E5D9-60CD-4DBE-8CC9-E6C1E659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2C5E5-BB69-4426-8DEA-9647CC54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8478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2BB4B-71B2-4F45-9DF3-03F36541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B7475A"/>
                </a:solidFill>
              </a:defRPr>
            </a:pPr>
            <a:r>
              <a:rPr sz="2850" b="1">
                <a:solidFill>
                  <a:srgbClr val="B7475A"/>
                </a:solidFill>
              </a:rPr>
              <a:t>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EFEC4C-07BD-4FAF-8741-3B476F9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critical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C9248-3A1C-4701-BB79-50118019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highest impact weight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532779-7941-4996-98AB-D4C04ACD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33600"/>
            <a:ext cx="18478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EDC9AB-1001-4703-B9FB-D0651495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241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28A2E"/>
                </a:solidFill>
              </a:defRPr>
            </a:pPr>
            <a:r>
              <a:rPr sz="2850" b="1">
                <a:solidFill>
                  <a:srgbClr val="C28A2E"/>
                </a:solidFill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9B36F-8DF9-4E35-8C8B-ECFC0403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575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serious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72833-1C48-4719-AF5C-609B8406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6230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strong penalty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789C7-2B74-4A8B-9C94-23CF187A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33600"/>
            <a:ext cx="18478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B016D-B693-4395-B56F-2241ECD0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241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A7BFF"/>
                </a:solidFill>
              </a:defRPr>
            </a:pPr>
            <a:r>
              <a:rPr sz="2850" b="1">
                <a:solidFill>
                  <a:srgbClr val="4A7B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2C334-BFC8-4D88-BDFB-5EC10AEF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moderate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FB0BC-FAD8-449B-AD4B-BDE50545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6230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medium penalty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42968C-2FEB-412B-B3AE-E3A22B5B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33600"/>
            <a:ext cx="18478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D1A12-9C57-454F-A957-D0ECDA8D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241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FA67A"/>
                </a:solidFill>
              </a:defRPr>
            </a:pPr>
            <a:r>
              <a:rPr sz="2850" b="1">
                <a:solidFill>
                  <a:srgbClr val="3FA67A"/>
                </a:solidFill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8E764-AE9B-4084-B34E-E65FDBA6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575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minor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F1ABE1-B8F0-4AA3-B448-88F98CDB9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6230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low penalty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D14AA-7882-4B24-B632-D8D5AAF7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1847850" cy="12954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98C5D2-4E0B-49F5-9FAF-D5B2B322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24100"/>
            <a:ext cx="1390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A6CF0"/>
                </a:solidFill>
              </a:defRPr>
            </a:pPr>
            <a:r>
              <a:rPr sz="2850" b="1">
                <a:solidFill>
                  <a:srgbClr val="7A6CF0"/>
                </a:solidFill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8F333-8E88-4B74-9E73-316E72C5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5750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156C2C-D1DF-4F50-B2EA-9ED64558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6230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manual-review weight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435632-B329-4F96-BB0C-2348576E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333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7D2DB6-52A8-45CE-B53D-0B1D2A74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50E9AB-E8CE-41FB-A95F-D3D032F7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Occurrence factor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20891A-DDFF-41A3-8E8C-391A42CF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Repeated findings use a logarithmic multiplier with an upper bound, avoiding runaway scores.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FA8535-883F-4B4A-8815-0794EA69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86200"/>
            <a:ext cx="3333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9BD239-E301-49E4-BAD9-BCC663AE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862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9B0286-9398-46B5-A61A-F1284A65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Page normalization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A85CA3-5C43-491E-8307-DA3ADFC9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Total penalty is normalized with page count so larger scans are compared more fairly.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6E870F-2A2F-4FAE-9D8A-20853EDF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86200"/>
            <a:ext cx="3333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122240-C395-49BB-8D9F-EB760073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8620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BE20E2-F178-4D50-9C78-454D0B44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957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Outputs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3C3EF9-BA6D-4C5E-9EC9-2020DFA4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577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0-100 score, A-F grade, risk level, page scores, category scores, WCAG count, best-practice count, review count.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8A953C-B37E-4DF4-85DA-58396D6B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34000"/>
            <a:ext cx="918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475A"/>
                </a:solidFill>
              </a:defRPr>
            </a:pPr>
            <a:r>
              <a:rPr sz="1200" b="1">
                <a:solidFill>
                  <a:srgbClr val="B7475A"/>
                </a:solidFill>
              </a:rPr>
              <a:t>Important: the score supports prioritization and trend analysis. It is not a legal compliance score.</a:t>
            </a:r>
          </a:p>
        </p:txBody>
      </p:sp>
    </p:spTree>
    <p:extLst>
      <p:ext uri="{BB962C8B-B14F-4D97-AF65-F5344CB8AC3E}">
        <p14:creationId xmlns:p14="http://schemas.microsoft.com/office/powerpoint/2010/main" val="10849613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7A5DFF-C0E0-4A34-A10B-D0A92001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A3C8E-054B-4605-B2E5-541114BB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D76EF-227E-464C-8CEE-8EC29F52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00396371948bc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838591-0230-427F-B515-A5923528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EDD60D-9DB9-4A62-905C-BC36E8D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7D031-3281-411A-8008-F44B9960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FROM FINDING TO OWNED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05066-386B-445E-9847-FBDC6373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Remediation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FFE28-E3F8-4B4B-BE25-EE79769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DBA07C-3515-4FF2-8BC1-3E8B2D5C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FE293-488B-4BC6-A89E-4669699B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4B7C93-3AAB-46D2-9CB8-5DEC4378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614613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580B03-9AEE-46D8-A468-BD7BE05A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4F624-90AD-4E8D-A43A-5E39595A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5A1B0-577C-435D-9F2A-F1E73D59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2717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Select finding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3D8B6-EF08-486B-B8F6-4E8DE0D1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227171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Open a finding or root-cause group with technical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0DF3C-CABB-435E-97BF-7F52DB39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3738" y="298132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2EA3A6-E020-40D6-8F70-30FE98A3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266950"/>
            <a:ext cx="2614613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420C90-E7C3-48A4-8F5C-91042857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438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9A5934-241A-4083-9D81-D6AD6E17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51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8E97C9-9525-4DE5-B26E-499D706D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933700"/>
            <a:ext cx="22717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Create task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8DDE7C-077A-4761-96C8-B3442CB0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3267075"/>
            <a:ext cx="227171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Generate a remediation item linked to scan, page, rule, and group.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ECD167-1C93-4E00-BD29-F25FCFB1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98132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461E3-0262-490D-A063-4AB8EF6A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66950"/>
            <a:ext cx="2614613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738983-5261-4D06-A6D8-F2F670C1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38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8D355C-06FD-4BAD-8D5B-F3B97A96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1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473C4-699C-430B-A0D0-45881315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33700"/>
            <a:ext cx="22717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Assign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67CBB9-5066-403D-A500-27582452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267075"/>
            <a:ext cx="227171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Set owner, priority, status, due date, project key, and notes.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7DC6AB-CC37-431D-AAEE-BA8CA255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298132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A8990B-AEB3-4599-8105-E20F57C4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266950"/>
            <a:ext cx="2614613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645774-A9EB-49D9-B016-3863B7E9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38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198FE1-5F49-484E-A8CA-97DE03D8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514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04C25E-A47A-453E-BF11-4E2FF5DB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933700"/>
            <a:ext cx="22717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Verify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0B5A35-D8BE-4134-A0ED-8D9A9FAA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67075"/>
            <a:ext cx="2271713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Re-scan and compare to determine whether the issue is resolved.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06F9DF-F5E6-4A14-B1BE-230CD441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23875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30BA47F-750A-456D-960D-53EF58CD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66B9CC-B2B6-4235-A2DB-0265810A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Task data model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0B7526-C8B4-4F0A-98A5-92B9012F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title, description, status, priority, assignee, due date, notes, axe rule, severity, source URL, scan and group relationships.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16065F-854A-4B4A-84CF-3AADE031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57700"/>
            <a:ext cx="523875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31F8BE-CF8F-4789-8A79-B66E076D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57700"/>
            <a:ext cx="57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34CFFAF-6C2B-4313-AA7A-13072D2F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6725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Project organization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423C3A-82C9-499C-BAA8-3D46B869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292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Tasks can be organized by project or site domain, allowing one workspace to manage multiple websites or clients.</a:t>
            </a:r>
          </a:p>
        </p:txBody>
      </p:sp>
    </p:spTree>
    <p:extLst>
      <p:ext uri="{BB962C8B-B14F-4D97-AF65-F5344CB8AC3E}">
        <p14:creationId xmlns:p14="http://schemas.microsoft.com/office/powerpoint/2010/main" val="20334728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73EA5C-A064-4AFE-9AC8-D1C325B0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A44A1-43A6-40D0-8108-6FCEBEE6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CF0E1-2172-42CF-A85C-042D7694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a50c9ee004843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B20B2-DC0C-4EFF-9157-DDA54259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2101B-7E4A-459C-8D86-2ADBA712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93EE3-70C5-40B3-9C4A-44B47473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PRESENTATION-READY OUTPUTS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EC54A-9803-456B-B722-73D2D956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Reporting and public sharing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42D1D-F76F-4370-BDD1-34892ABF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F81C6-DD8B-4A67-B9D0-5F2A55DC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E7B76-30EF-4EA3-BB78-1E3DDE3C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C2A28-6692-4022-BFFC-0DE8A245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81200"/>
            <a:ext cx="4248150" cy="32004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a4568cea74b5b"/>
          <a:srcRect xmlns:a="http://schemas.openxmlformats.org/drawingml/2006/main" l="0" t="40390" r="0" b="403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05650" y="2057400"/>
            <a:ext cx="4095750" cy="3048000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165FA-279C-4E7D-ABC2-A2282217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8194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D6721-8ED5-4BF2-BEBD-7A9723A88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18DC96-60D9-4CEA-B8EE-1C60F0E9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Report types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0062E-65B9-4EED-8B9D-956076D1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Full, executive, and CSV-oriented configurations.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7C38B-5100-4F33-A4D3-46486179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28194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1D86BE-146A-4736-A675-DC6BD27B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336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5A"/>
          </a:solidFill>
          <a:ln xmlns:a="http://schemas.openxmlformats.org/drawingml/2006/main" w="0">
            <a:solidFill>
              <a:srgbClr val="B747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2B413-6EE0-43BB-8AED-F437DFE5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431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Mandatory limits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DDB5E2-7688-4029-8EC5-E291425C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7051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Scope and legal-limitation notice cannot be removed.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06BF37-CE96-480B-A80D-2CB77B5E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28194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6D51C-C055-4469-B6B3-5F1CBE7E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69F13A-2C66-4C63-9BFF-7F2D80B4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Export formats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C82ABB-515F-40FA-BBB4-B063211D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HTML, PDF, CSV, and JSON. PDF depends on Chromium availability.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12F0AB-59F1-4F70-9B60-F345564A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28194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E6F7E5-B359-486E-8885-CF296810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45673-67EB-4AC2-BF89-07D62A9A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7719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Public links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F16ABC-21B0-4E96-B277-6EE855F1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338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Random token, revocable, no-store, noindex, and gated by report export permission.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4D89AB-0A4D-4BAE-85E1-4F423D70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542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3247"/>
                </a:solidFill>
              </a:defRPr>
            </a:pPr>
            <a:r>
              <a:rPr sz="1200" b="1">
                <a:solidFill>
                  <a:srgbClr val="2A3247"/>
                </a:solidFill>
              </a:rPr>
              <a:t>Agency, Team, and Enterprise plans can use workspace branding for shared reports.</a:t>
            </a:r>
          </a:p>
        </p:txBody>
      </p:sp>
    </p:spTree>
    <p:extLst>
      <p:ext uri="{BB962C8B-B14F-4D97-AF65-F5344CB8AC3E}">
        <p14:creationId xmlns:p14="http://schemas.microsoft.com/office/powerpoint/2010/main" val="19324159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3A21CB-78C1-4F56-87B5-73640018F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EDCFD-6681-43E9-AA60-0A94AB21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853602-1FCB-4665-B243-2786994D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e13b26944495f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A8317-5FD4-4C55-9588-681F0B02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B2811-5A6A-405A-92C9-633B78AC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90A11-4BB0-4D5B-8613-882F0DF7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CONTROLLED ASSISTANCE, NOT AUTOMATION THEATER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205C6-09B9-4DA6-AD3E-92FC7FF1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AI 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D1838-0D76-4F28-80D2-813BD00D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CF922-E7E4-4269-A461-5A4494A9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387D5-8BB9-47E8-9964-6CC75139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D26FA-DD02-43BC-AF10-54C1567A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3247"/>
                </a:solidFill>
              </a:defRPr>
            </a:pPr>
            <a:r>
              <a:rPr sz="1575" b="1">
                <a:solidFill>
                  <a:srgbClr val="2A3247"/>
                </a:solidFill>
              </a:rPr>
              <a:t>AI features are useful, but deliberately gated. The product treats AI as reviewable guidance, not an automatic compliance engine.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D25C58-89AB-4AF9-8482-0949035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3333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A1A7FD-EFED-43A8-8D87-5FA0E1FA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12F433-97CC-4F7A-99FB-5F6DAA1C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Use cases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DD517-6FF2-4B45-98E2-5220E1A6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Issue explanation, remediation summary, code example, framework-specific guidance, verification steps, client-friendly copy.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631E3D-4C2E-41F4-96EB-30167E18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3333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B5951B-F3C1-4B98-8E35-C3320106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289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222AB4-D43D-4063-86F8-96DB201C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Privacy limits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C5176-F5E2-41EF-9A76-7324B98D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004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Workspace consent required, HTML samples limited to 2 KB, no cookies, no form values, no screenshots.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0F879-AD0F-4FCF-8051-0F7DFA1D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333375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799B28-5F96-4184-8DC0-54868A9C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5A"/>
          </a:solidFill>
          <a:ln xmlns:a="http://schemas.openxmlformats.org/drawingml/2006/main" w="0">
            <a:solidFill>
              <a:srgbClr val="B747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C878C7-10D9-48C9-8A3B-03256314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385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Output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2A851-E2A0-4514-A90F-DD4CCC2A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045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No certification claims, no legal guarantees, no 100% compliance claims, no overlay-as-substitute advice.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64FC5-ECA5-4DE1-AE81-825886B5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86300"/>
            <a:ext cx="95250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FEDFE"/>
          </a:solidFill>
          <a:ln xmlns:a="http://schemas.openxmlformats.org/drawingml/2006/main" w="9525">
            <a:solidFill>
              <a:srgbClr val="DDD8F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D43321-73E1-4274-9F24-5CB322A0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95850"/>
            <a:ext cx="883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4FD9"/>
                </a:solidFill>
              </a:defRPr>
            </a:pPr>
            <a:r>
              <a:rPr sz="1200" b="1">
                <a:solidFill>
                  <a:srgbClr val="5E4FD9"/>
                </a:solidFill>
              </a:rPr>
              <a:t>Default model: gpt-5.3-codex, configurable through environment variables. Every AI operation is rate-limited and written to audit logs.</a:t>
            </a:r>
          </a:p>
        </p:txBody>
      </p:sp>
    </p:spTree>
    <p:extLst>
      <p:ext uri="{BB962C8B-B14F-4D97-AF65-F5344CB8AC3E}">
        <p14:creationId xmlns:p14="http://schemas.microsoft.com/office/powerpoint/2010/main" val="2320944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991A3-283C-4291-BB39-0EB914CD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FBCEE-BF27-4DAB-AC92-0EFFD48A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E5F27-6C7A-471B-9C9A-7CE89C1C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695dea2c914280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54590-F406-49AC-8AB9-D790B554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60DCA-B421-4617-8025-F794EF31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7021B-0EAD-47DC-995F-1D8CB669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CONSENT, RETENTION, EXPORT, DELETION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4B668-FB56-4706-9D5B-98B92F77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Privacy and data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5AD01-24D9-47D3-AFAD-214EF4ED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2F95D-6B5F-4D8C-B712-54E3B6F2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27A3E-375A-4669-9081-0E0D8077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19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BD612-D031-4550-BFE3-F89FB807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62150"/>
            <a:ext cx="415290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56064b69144ef"/>
          <a:srcRect xmlns:a="http://schemas.openxmlformats.org/drawingml/2006/main" l="12619" t="0" r="126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038350"/>
            <a:ext cx="4000500" cy="3009900"/>
          </a:xfrm>
          <a:prstGeom xmlns:a="http://schemas.openxmlformats.org/drawingml/2006/main" prst="roundRect">
            <a:avLst>
              <a:gd name="adj" fmla="val 379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64162D-7404-40BF-98DC-82996433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22144-1496-4BF5-AA5D-13B8CD86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F3DF79-055D-41A8-9960-2BE3A549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Two-level screenshots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A8E7EF-42AF-4913-B12F-A04937EF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Workspace consent plus per-scan selection before visual evidence is captured.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A9572-D9FE-43A4-84AC-7C761180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28575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9F95C4-C860-4A52-AB60-37C7128E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1455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4665B-D48F-4CB3-88DA-40F3B51C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2410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Evidence controls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BC03DD-A2E8-41C3-9B5F-35C096EF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68605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Selector, viewport, state, bounding box, redaction, expiry, and 650 KB persistence cap.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03336-6ABA-4A7C-9354-A627022E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8575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FDBD9B-0777-4D15-9707-E11C7DF8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1B071-4D05-43EA-A462-CEF2F4B0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Data export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36A92-1CA2-4FBA-BB89-D1D3DD23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Workspace, privacy settings, scans, findings, tasks, reports, audit logs, and export timestamp.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6FF6B2-353E-4645-B290-0B2BF1B4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29000"/>
            <a:ext cx="2857500" cy="1009650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DF1B17-7782-4C7D-81BB-A209AA7C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29000"/>
            <a:ext cx="57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5A"/>
          </a:solidFill>
          <a:ln xmlns:a="http://schemas.openxmlformats.org/drawingml/2006/main" w="0">
            <a:solidFill>
              <a:srgbClr val="B747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981216-FB80-4545-A312-D87ECD02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38550"/>
            <a:ext cx="2400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Verified deletion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4C6F8E-C78B-4FE7-BCA5-3C76F99E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00500"/>
            <a:ext cx="2400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Async job deletes scan-related records and performs a final zero-residue verification pass.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FBE2C5-FD23-4033-B61D-50C8188B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3247"/>
                </a:solidFill>
              </a:defRPr>
            </a:pPr>
            <a:r>
              <a:rPr sz="1125" b="1">
                <a:solidFill>
                  <a:srgbClr val="2A3247"/>
                </a:solidFill>
              </a:rPr>
              <a:t>V1 stores visual-evidence images as Base64 in Firestore. This simplifies infrastructure but is a known scaling constraint.</a:t>
            </a:r>
          </a:p>
        </p:txBody>
      </p:sp>
    </p:spTree>
    <p:extLst>
      <p:ext uri="{BB962C8B-B14F-4D97-AF65-F5344CB8AC3E}">
        <p14:creationId xmlns:p14="http://schemas.microsoft.com/office/powerpoint/2010/main" val="16656809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2C1847-E32D-426B-9FE5-350260C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ECD92-2C30-4E9A-A612-69FEA351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19172-7B88-4364-837F-02F1ECE2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c7792629145c4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6F94D-E4C6-45D0-8671-D00DD631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CE056-D141-4016-AD46-40D2A463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F9AD0-06B9-44A5-BD9C-F9EFEBF8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RECURRING SCANS BY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D6800-057A-4FD7-AED9-7A587823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Continuous monitoring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BBFC86-5473-4731-AB82-98C9EE06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FD405-CB5F-4E9E-B193-C9565756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5E653-7177-4803-A48F-98630588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BEC3C3-23CD-456B-BC63-1F205B75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6477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FF2F8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4267D4-2E19-4171-8070-C71445F8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Free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E1E5B-CDE1-4433-812C-6F3C116C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764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26C87"/>
                </a:solidFill>
              </a:defRPr>
            </a:pPr>
            <a:r>
              <a:rPr sz="1200" b="1">
                <a:solidFill>
                  <a:srgbClr val="626C87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3A046-90AB-4B54-9932-BC1CC23D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955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C87"/>
                </a:solidFill>
              </a:defRPr>
            </a:pPr>
            <a:r>
              <a:rPr sz="900" b="0">
                <a:solidFill>
                  <a:srgbClr val="626C87"/>
                </a:solidFill>
              </a:rPr>
              <a:t>monitors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1DF0A-4A4F-4BB1-A498-7E38D011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860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none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EB8F9-85CA-4574-9493-78AC6362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477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05870-FF3E-4910-8838-5A3281AE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Starter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F2F95-6C31-4321-9F66-8F2FE615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289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4FD9"/>
                </a:solidFill>
              </a:defRPr>
            </a:pPr>
            <a:r>
              <a:rPr sz="1200" b="1">
                <a:solidFill>
                  <a:srgbClr val="5E4FD9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82CEC-94E0-41D2-A42A-9A53F7E2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4797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C87"/>
                </a:solidFill>
              </a:defRPr>
            </a:pPr>
            <a:r>
              <a:rPr sz="900" b="0">
                <a:solidFill>
                  <a:srgbClr val="626C87"/>
                </a:solidFill>
              </a:rPr>
              <a:t>monitors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57337-AAC0-4213-9FF7-5E0CF1EB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weekly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75F4E-9A02-457C-AB9A-DB22586E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477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EFEE0-443B-4D00-A2EC-B2BE85B4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Agency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86E88-9CAE-4CF2-A769-E74D9A22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813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4FD9"/>
                </a:solidFill>
              </a:defRPr>
            </a:pPr>
            <a:r>
              <a:rPr sz="1200" b="1">
                <a:solidFill>
                  <a:srgbClr val="5E4FD9"/>
                </a:solidFill>
              </a:rPr>
              <a:t>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FFFD5D-D541-4DC5-A05A-17B7399A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004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C87"/>
                </a:solidFill>
              </a:defRPr>
            </a:pPr>
            <a:r>
              <a:rPr sz="900" b="0">
                <a:solidFill>
                  <a:srgbClr val="626C87"/>
                </a:solidFill>
              </a:rPr>
              <a:t>monitors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F96D7-0479-4E72-B9BA-C8FF69C5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909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daily, every 3 days, weekly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62C8C6-8DBD-4CFC-9EAF-0669F365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6477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7F06D6-6A95-41EF-B60B-5CBBD6B8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Team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C732E-90E4-43E5-B752-EBB800CF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3382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4FD9"/>
                </a:solidFill>
              </a:defRPr>
            </a:pPr>
            <a:r>
              <a:rPr sz="1200" b="1">
                <a:solidFill>
                  <a:srgbClr val="5E4FD9"/>
                </a:solidFill>
              </a:rPr>
              <a:t>100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F45EA9-6F48-4817-9D64-758F4571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5287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C87"/>
                </a:solidFill>
              </a:defRPr>
            </a:pPr>
            <a:r>
              <a:rPr sz="900" b="0">
                <a:solidFill>
                  <a:srgbClr val="626C87"/>
                </a:solidFill>
              </a:rPr>
              <a:t>monitors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4A8E74-C111-4A72-921D-71FD16E8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9433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daily, every 3 days, weekly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5098D6-504D-449C-A0E4-59341F16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4770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31488E-06F5-4E12-A27D-F19CB939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Enterprise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7CA76F-3E61-4D62-BC9C-67D95F3D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86275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E4FD9"/>
                </a:solidFill>
              </a:defRPr>
            </a:pPr>
            <a:r>
              <a:rPr sz="1200" b="1">
                <a:solidFill>
                  <a:srgbClr val="5E4FD9"/>
                </a:solidFill>
              </a:rPr>
              <a:t>500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226B4C-3934-48F1-A2EF-6FF3BFC45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05325"/>
            <a:ext cx="857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26C87"/>
                </a:solidFill>
              </a:defRPr>
            </a:pPr>
            <a:r>
              <a:rPr sz="900" b="0">
                <a:solidFill>
                  <a:srgbClr val="626C87"/>
                </a:solidFill>
              </a:rPr>
              <a:t>monitors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FAF049-120C-414F-9758-323E5C39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4958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daily, every 3 days, weekly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9039A3-F517-4D81-BFD8-D3363525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71700"/>
            <a:ext cx="3429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ACCC40-F80C-494D-87E1-611E653E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717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EDFA91-ADF7-47F5-A641-1FB81F59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How it runs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666A9A-CD86-4331-9902-3D6A5335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Cloud Scheduler checks due monitors every five minutes by default. Due monitors reuse the standard scan pipeline.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7C5136-8F82-4DFA-ADEF-DC9D5C22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19500"/>
            <a:ext cx="3429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B6B485-C436-44B2-81A6-BC88F2C3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195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3A7351F-98F3-458E-852C-67530FAE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2905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Stored thresholds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114126-6F05-4CE6-BE32-F74A9D4D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New critical findings and score drops can be configured along with email and Slack channel settings.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56E4CF-1958-48D0-A752-04F49B3F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196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1F11C3-30A0-4C04-8ED9-43E56F1A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196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3395A7-B606-4EA5-8949-5CA2004B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29200"/>
            <a:ext cx="297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Current gap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D600DD-AA3F-4696-9D26-A0DFB7BB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91150"/>
            <a:ext cx="297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The delivery layer for actual email and Slack alerts is not implemented yet.</a:t>
            </a:r>
          </a:p>
        </p:txBody>
      </p:sp>
    </p:spTree>
    <p:extLst>
      <p:ext uri="{BB962C8B-B14F-4D97-AF65-F5344CB8AC3E}">
        <p14:creationId xmlns:p14="http://schemas.microsoft.com/office/powerpoint/2010/main" val="178256768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65B4FD-7B9A-49EC-8B2C-2F286300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9CC33-53C8-4C53-B260-25782C51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7AC62-4A95-4953-A2E0-DC544D80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361610c26e408f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E6E1C-6669-4B75-86A0-2860868D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2FF5A-1E73-4D74-80D1-45201656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5DC36-410F-42D4-AD56-3696AF36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POLAR BILLING AND PLAN LIMITS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21F32-C377-46BD-9FFF-3116E250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Subscription and entitlement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8D0B2-742F-47E5-B682-ACB6A378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170CD-C142-4632-81DD-27F7144C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266A7-C829-4C9F-948F-691FC848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15AF69-2BF9-4E6C-B0A6-4B762F0E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38350"/>
            <a:ext cx="4629150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b225fa14a6444a"/>
          <a:srcRect xmlns:a="http://schemas.openxmlformats.org/drawingml/2006/main" l="6517" t="0" r="65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2114550"/>
            <a:ext cx="4476750" cy="2895600"/>
          </a:xfrm>
          <a:prstGeom xmlns:a="http://schemas.openxmlformats.org/drawingml/2006/main" prst="roundRect">
            <a:avLst>
              <a:gd name="adj" fmla="val 3947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808A4-2152-48DC-B4C0-99576DAB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7241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E782DD-2491-42F3-98A4-413C311F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32AD70-616D-4B3E-8B00-E59CC176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Plans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085E9-5477-4885-938D-0C3D5A49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Free, Starter, Agency, Team, and Enterprise.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8387EB-7096-488B-8A45-6A5739B5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27241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FD7056-9651-4043-8871-C39109EE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526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7B4EF7-D7A4-4214-8408-224C145C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622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Entitlements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3EDE4-FFF8-4150-A51B-E1FDB315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7241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Daily scans, pages per scan, evidence limits, seats, roles, monitors, white-label reports.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7FF5AB-AF2E-4685-A341-39927016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7241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06E39-1CE4-4E94-9E79-EE5C6BF5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85CD75-5E8D-4486-9752-C2833E65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Polar integration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8BFE7-7279-4830-BF64-E280540A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Checkout, customer portal, signed webhooks, active/trialing subscription grants paid access.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3149E8-81B0-4D2D-A558-9E53E888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27241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0E1BD7-149F-4C31-A90C-4C61C51C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57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93D11E-8829-4387-AAFB-F9FE82BD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Production safety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41E2E7-E242-4BB7-A7FF-BE92EA77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957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Only verified Polar webhooks can assign paid plans in production.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03AAE8-246F-4060-B6B0-DD7E00DA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3247"/>
                </a:solidFill>
              </a:defRPr>
            </a:pPr>
            <a:r>
              <a:rPr sz="1125" b="1">
                <a:solidFill>
                  <a:srgbClr val="2A3247"/>
                </a:solidFill>
              </a:rPr>
              <a:t>Default scan limits range from Free 3 scans/day and 3 pages/scan to Enterprise 1000 scans/day and 1000 pages/scan.</a:t>
            </a:r>
          </a:p>
        </p:txBody>
      </p:sp>
    </p:spTree>
    <p:extLst>
      <p:ext uri="{BB962C8B-B14F-4D97-AF65-F5344CB8AC3E}">
        <p14:creationId xmlns:p14="http://schemas.microsoft.com/office/powerpoint/2010/main" val="114054133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9A9876-416B-49A6-8F33-E79D8839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650CB-0B69-40E7-AFBF-B694E8B2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98758-85E6-4DDE-8C93-4B7D5816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fa0f6464442f4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E1BD6-23B7-486E-A005-23CBA1B8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B2AFD6-239D-42D3-826F-D4B253EE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EE84F-38EC-4CA7-8B8E-1078A0F9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TENANT BOUNDARY AND ENTITIES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7486A-431A-4094-8E90-C22507EF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Core data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2A457-0711-438D-BD86-C22E5A2A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B5D9CD-B3A3-4FF3-8C46-7CC49A08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35059-ABE2-4B0F-8C4D-52EFBD73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22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5001F-0B1D-4A33-97D9-79BDFBAA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0673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55AAFA-1BAD-478C-89EB-9587AE08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C533F-9847-4165-97A8-67B80D41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250AFE-285B-403C-B931-0C24315E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43DC18-55EB-4A4C-A663-BFCAED80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Workspace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5B7D59-ED24-4D3D-87CA-60B98D3A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6225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Workspace, WorkspaceMember, UsageLimits, PrivacySettings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CCD39-B30E-4FE5-9DC0-76AA345C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50673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88746-C155-4995-ABC7-72C4A319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640E97-F7B8-42E1-9F7D-844732E8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8EDEC-72F8-4D21-956A-556BD89E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6697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3CD414-6E88-4983-BDE6-F1659D9A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0030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Scan domain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3D2175-A9FA-42E9-986E-730FC04E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ScanJob, PageJob, ScanPage, AccessibilityIssue, IssueGroup, ScanSummary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01F0F8-AE5F-4D89-8D0A-DA9F1B27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0673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891FD6-E431-4AAC-9631-EF1F2FF9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CE6647-9F15-402E-A54F-8060D496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AC7BCE-9B20-4962-AE95-C180F80E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B052C-FA5B-426E-A44E-E325C92B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Operations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6260DB-AC5F-4A19-9FF0-8864F0B6E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48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VisualEvidence, RemediationTask, Report, Monitor, AuditLog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A79E3-231B-4D76-900D-35D171EC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43300"/>
            <a:ext cx="50673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90D94E-8E5F-4289-A8B5-BCFE3339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433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3312A7-F6EE-4044-81D8-A51D7996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7D6048-C611-41FB-AD8F-302ADF71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9525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1EEF1C-E687-4F09-888F-0392577E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52850"/>
            <a:ext cx="415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Global services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CC2DA6-B3AE-4A52-8416-E7F10050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14800"/>
            <a:ext cx="415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publicReportShares, invitations, deletion jobs, rateLimits, workerHeartbeats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3A2525-4664-4271-8A11-4A7F03BF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8953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2F0155-D710-4F4F-B937-483FE885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410200"/>
            <a:ext cx="830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3247"/>
                </a:solidFill>
              </a:defRPr>
            </a:pPr>
            <a:r>
              <a:rPr sz="1050" b="1">
                <a:solidFill>
                  <a:srgbClr val="2A3247"/>
                </a:solidFill>
              </a:rPr>
              <a:t>Firestore workspace subcollections provide tenant separation; selected global collections handle sharing, invitations, deletion jobs, limits, and worker health.</a:t>
            </a:r>
          </a:p>
        </p:txBody>
      </p:sp>
    </p:spTree>
    <p:extLst>
      <p:ext uri="{BB962C8B-B14F-4D97-AF65-F5344CB8AC3E}">
        <p14:creationId xmlns:p14="http://schemas.microsoft.com/office/powerpoint/2010/main" val="2255002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0C23E6-5F57-4826-89CE-AD1BE534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C01E7-DC78-419E-908E-7EADC38E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1FDF9-C8FA-4F95-8070-2BB9114AC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9da8de90941b0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1F9B7-1C79-4CB5-B6C5-FE4532A6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764A8-D47E-4291-A3D6-5D72A019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97E11-9420-44F1-B6B6-D655DCD9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CONTROLS ACROSS APP, WORKER, AI, BILLING, AND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6C1F1-E1E4-4E3C-A150-AE3632CD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Security posture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6B653-AC5C-4687-90B2-67420132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1EFE25-925E-405F-BA92-9405DF45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AB7C5-ED96-4F8E-9675-B2ACB002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23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A6F7F-1F1E-44D5-9ECA-2FF3E366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32BBC-4FA3-437A-B238-97443CF6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92B77-CF09-4AC7-8C39-AC7A8F3E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955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HTTP-only Firebase session cookie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BFE1B-D7D4-43DE-BCA9-A3F51190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5265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42D7B-DA59-44FE-9B84-8209202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BAF0D-58FA-4510-A7CE-E34C64D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955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Server-side membership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7693C-EB22-4263-A0B7-3B3D2547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3AB704-95F9-435D-BA66-BB543455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05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D87AA5-B7C6-485D-9D44-00E413FD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955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Role and permission matrix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8385A-A6AE-4F0E-B09A-03AF5968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5265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82C54-2EC4-4A93-89A6-F87EEA74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05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051346-A63B-446A-838C-216AC4E3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955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Zod API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84265-125F-49D4-AE34-A8F611EE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198EB1-B5A4-4FDE-B375-C2318D32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1DB42F-DB29-42CA-9DE8-41897113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384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SSRF and redirect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BF7807-008B-480C-8081-E1A0031B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CE015-DFD7-4948-8029-8B263957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D5E15-DD6A-4ACE-A837-CA8B8567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384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Atomic Firestore job claims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7EC680-AD1C-4152-972F-5EC5D2F4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9560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553D79-E557-456A-A1E2-2817ED75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57EF70-F3FC-486A-AD90-38BB36F4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384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Private Cloud Run with OIDC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87FE8F-D8F0-45D6-857C-B87676DB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9560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5B3474-C240-4E21-9B90-0D6ABD33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48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3979B8-F0C2-4757-BCA5-BBF412A4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384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Worker shared secret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47F5D0-29C6-4C2B-BAF9-5538B372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BC1530-31C6-45ED-A766-8B0E464F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F90150-CCCB-45D4-9D84-796FC3EF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814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Scheduler bearer secret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F2F37E-1EA1-4B54-9D46-3A5D04F49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3855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BA47A3-63F8-4F43-A4B8-F63890C7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0E59A3-7E29-4348-B9FA-641EF273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814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Polar signature verification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DAA7E5-0690-4EC9-A130-E790B0CD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C7D4BD-4F7C-40FE-A0A6-D4AA4D63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15D0A5-EA53-4B32-A3F5-BBB310D3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814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Cryptographic share tokens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7F6893-12D5-4488-A156-DDE618AD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3855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100AE2-0A01-47C8-AF1C-038924E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7909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D41C0C-374C-4EBF-A60F-9B8AB2A5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8142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Distributed rate limiting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B3D2322-14ED-41D2-B84D-3A5A6354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5093F0-E068-420D-B47F-C66E0EBC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50A984-56C7-4CE4-A594-6762B33A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243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Audit logs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4EF161-B9F2-4C32-B7B7-F3C5763E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8150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947F52-2ADA-4C8D-B926-811D73D1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33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751C87-FC58-4A37-90E4-8560D4C4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243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AI data minimization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14A5EF-C87F-4C02-BFC5-15814DD9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0D0DAA-F3F6-49F0-9316-AA519A50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C22B72-DEA1-4B88-A060-F64001BA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243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Evidence redaction and expiry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B0BABF-C500-4E7A-825E-F106086E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0"/>
            <a:ext cx="2476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29B91B-BA82-4655-A03C-84E11378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33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70C51C-2825-4D95-968C-A11E2242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24375"/>
            <a:ext cx="1866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A3247"/>
                </a:solidFill>
              </a:defRPr>
            </a:pPr>
            <a:r>
              <a:rPr sz="900" b="1">
                <a:solidFill>
                  <a:srgbClr val="2A3247"/>
                </a:solidFill>
              </a:rPr>
              <a:t>Encrypted local secrets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E7B04B8-64E1-4A32-BE3C-0E0EDE82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53050"/>
            <a:ext cx="902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7475A"/>
                </a:solidFill>
              </a:defRPr>
            </a:pPr>
            <a:r>
              <a:rPr sz="1125" b="1">
                <a:solidFill>
                  <a:srgbClr val="B7475A"/>
                </a:solidFill>
              </a:rPr>
              <a:t>Rate limiting currently fails open if Firestore is unavailable. Platform-level abuse controls are recommended as a complementary layer.</a:t>
            </a:r>
          </a:p>
        </p:txBody>
      </p:sp>
    </p:spTree>
    <p:extLst>
      <p:ext uri="{BB962C8B-B14F-4D97-AF65-F5344CB8AC3E}">
        <p14:creationId xmlns:p14="http://schemas.microsoft.com/office/powerpoint/2010/main" val="1668985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4D858A-5A0E-44B6-A698-CCE75F25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C21B9-7F2D-4EB7-8028-037FA4D9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52918-4881-4F82-941D-6EF97DCE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4cf67543542b9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0C1E6-D47C-4E2C-8EF8-AFA19D82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EE874-CDB8-4632-9FD8-6638F5F3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D0B69-0C1F-4A1E-A7B7-838BC59F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HOW THE SYSTEM STAYS RECOVERABLE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71CE8-6538-41EB-BD78-E88EABC4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Resilience and deployment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F6F61-37F4-4D1B-88E6-58749733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91193-1437-425A-BF61-62F1D7E9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8623B-E235-42D6-8187-099E0BC5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BF31F-B070-4057-9CD2-FDC16A01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33528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57219-2B12-4241-9656-3F0D520F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7A4D9-9F30-4094-9291-383F18B2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Atomic claims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1E18C-CF31-4DFB-B4A2-F9E22498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Firestore transactions ensure that only one worker owns a scan or page job even when multiple workers compete.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F6F061-5358-4154-9721-F2FE8EC8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52650"/>
            <a:ext cx="33528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F1829-62A0-4172-A8E9-B9A110DC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526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16C1A-8685-43DC-ADD2-4E09F87B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Heartbeats and sweeper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B0B755-B4D2-4F72-A384-CD8CAB73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15s worker heartbeat, 20s page-job heartbeat, stale recovery, timeout failure, and aggregation restart.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50F8EF-BFE8-4349-804E-FE37E365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33528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EB4778-4666-44F3-A7A1-77FE1171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526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6BF7A9-D622-4FAA-A5EF-0415A890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Chromium lifecycle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04C16-D302-4B08-9BC1-15BDA891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One browser process per worker, isolated contexts, concurrency 2 by default, memory recycling, crash relaunch.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8FAA0-95A5-4231-8A0A-843D65A3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528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DC2BE-9B08-4C93-9FEF-895EAFDD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ADB824-0E6F-4605-8F4E-15C13562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Scale-to-zero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A0D3A-AC51-43CF-8FB9-EBE72B2E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Cloud Run can idle to zero. Asynchronous queueing prevents cold starts from blocking user requests.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263F46-13A7-4355-9EE9-C527C008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33528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6C68EC-BC02-4BB1-8EFA-801A7316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3D541D-38E9-4B39-B4D4-0351DCC3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243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Deployment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70E5DE-9BE8-4947-B160-51AAEC0C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Vercel web app, Cloud Run worker, Cloud Tasks queue, Cloud Scheduler sweeps and monitors.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733A22-FC89-45DF-90E5-151BC2B4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33528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CA8BC0-8486-49AC-85E6-840935AB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5A"/>
          </a:solidFill>
          <a:ln xmlns:a="http://schemas.openxmlformats.org/drawingml/2006/main" w="0">
            <a:solidFill>
              <a:srgbClr val="B747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5F6FEA-957B-47DC-BAE4-9A49ADB9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243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Firestore ops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64D59D-3D64-427F-B54C-2A5F304A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Composite indexes, TTL for rate limits, TTL for worker heartbeats, and operational runbooks.</a:t>
            </a:r>
          </a:p>
        </p:txBody>
      </p:sp>
    </p:spTree>
    <p:extLst>
      <p:ext uri="{BB962C8B-B14F-4D97-AF65-F5344CB8AC3E}">
        <p14:creationId xmlns:p14="http://schemas.microsoft.com/office/powerpoint/2010/main" val="20862348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78F59E-1C3B-4282-9384-F4A8A2A0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3EE1C-9F2B-4A8B-84EF-2C277EEF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8F2EB-5390-486B-8BB9-E2E3BE7F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f00ac968d4952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43365-CCE9-4597-89F0-3C9D6815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C571F-A6CA-4666-AFCA-F34A3B10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1ADFAD-5F39-4420-96B9-70AFC097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REVIEW RESULTS ON JUNE 23,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78033-416C-46ED-A64D-0F15EFA8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Quality and test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5F901-6AC8-4DEA-B0F5-28D02E57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426E9-66B0-41CF-9E06-7C70020E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BA465-188C-4117-AB05-B7898A0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2F9E8-3D4B-4B7D-A0F1-5D80B6F6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190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3D027-B75F-438C-9105-3BB5D4F5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FA67A"/>
                </a:solidFill>
              </a:defRPr>
            </a:pPr>
            <a:r>
              <a:rPr sz="2850" b="1">
                <a:solidFill>
                  <a:srgbClr val="3FA67A"/>
                </a:solidFill>
              </a:rPr>
              <a:t>52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B47FF-DF80-42AD-BA7C-8EDF448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test files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1AFB7-4316-45FA-B321-F4587DA2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1 skipped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139B7-EF0C-4200-BA46-BCB37A39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152650"/>
            <a:ext cx="2190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D1840-24F1-456E-9DCE-D031E13A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FA67A"/>
                </a:solidFill>
              </a:defRPr>
            </a:pPr>
            <a:r>
              <a:rPr sz="2850" b="1">
                <a:solidFill>
                  <a:srgbClr val="3FA67A"/>
                </a:solidFill>
              </a:rPr>
              <a:t>323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E29D1F-F5C8-463A-A2F8-58FEA937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765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tests passed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5068CD-0F88-4D0D-A93E-02547FAD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4 skipped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F2C0D-5FB8-42BB-A637-30A517F1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52650"/>
            <a:ext cx="2190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E69C50-4F01-4683-AC27-75587FD9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A7BFF"/>
                </a:solidFill>
              </a:defRPr>
            </a:pPr>
            <a:r>
              <a:rPr sz="2850" b="1">
                <a:solidFill>
                  <a:srgbClr val="4A7BFF"/>
                </a:solidFill>
              </a:rPr>
              <a:t>37.3k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15334-95F0-4C50-9940-6F2141E5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765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TS/TSX lines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7389B6-52E0-472E-B8D0-5AFEC7C2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81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source and worker 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58494-569C-4D3A-BAD5-04D96BA5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219075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9832EF-BA88-4544-8EFF-CCF07B77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A6CF0"/>
                </a:solidFill>
              </a:defRPr>
            </a:pPr>
            <a:r>
              <a:rPr sz="2850" b="1">
                <a:solidFill>
                  <a:srgbClr val="7A6CF0"/>
                </a:solidFill>
              </a:rPr>
              <a:t>60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D36671-E18F-424C-A256-C92804C1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173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spec files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E5C1DD-F784-4F8C-90ED-AAF14199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81350"/>
            <a:ext cx="1733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5570"/>
                </a:solidFill>
              </a:defRPr>
            </a:pPr>
            <a:r>
              <a:rPr sz="975" b="0">
                <a:solidFill>
                  <a:srgbClr val="4B5570"/>
                </a:solidFill>
              </a:rPr>
              <a:t>unit, integration, E2E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39DE89-578A-4BD4-B44C-CB63082C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33718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4F6E2D-FB22-4588-81F8-33DB40A9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5A7364-25E3-4F8A-97B3-30A974CB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Passed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E4E00-7A29-4B35-B954-C03E2D95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npm test, npm run typecheck, and npm run worker:typecheck all completed successfully.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0F48C7-2D5A-4A43-A5D2-C9F94EF2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81450"/>
            <a:ext cx="33718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97C919-1C54-4224-8901-45763793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814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5A"/>
          </a:solidFill>
          <a:ln xmlns:a="http://schemas.openxmlformats.org/drawingml/2006/main" w="0">
            <a:solidFill>
              <a:srgbClr val="B7475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34AEB7-84E9-4329-A552-1B69DE8F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1910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Failed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B3193B-F4B8-4AEC-A175-2D352FCD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52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npm run lint failed with 6 errors and 2 warnings, mainly hook state updates and explicit any usage.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C410889-763A-4452-B11B-D4CAB284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33718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6DDC9C-7365-4F95-A44C-F1478E6B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8145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C8AA2A-99F9-4A25-B42C-AE981EA9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9100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Not 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73C887-0271-43AD-B5CD-84757412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52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Authenticated E2E tests and live production smoke testing were not run during this review.</a:t>
            </a:r>
          </a:p>
        </p:txBody>
      </p:sp>
    </p:spTree>
    <p:extLst>
      <p:ext uri="{BB962C8B-B14F-4D97-AF65-F5344CB8AC3E}">
        <p14:creationId xmlns:p14="http://schemas.microsoft.com/office/powerpoint/2010/main" val="860210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8607B8-08EC-4E20-A831-B993D1E0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DE6F4-2C02-4A5B-9CFF-08247E77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5EEEA-6B7A-4D02-8104-E61EE5CB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0c9f5bb624052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3E957-0114-49D5-A816-E691BC78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837C9-40AE-43DA-B2E4-ADB868E4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FD9EE-22C0-4E55-81EA-AECE9FCC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PRIORITIZED CURRENT-STATE ASSESSMENT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837F2-AC63-48BE-A939-45506F6B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Open risks and technical debt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9A8A5-C5B1-413F-809A-5CE3BBE6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9EAA0-5443-45AD-97F1-337A9950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417F0-E7B4-485F-A3D3-7A440317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6768B-4138-41A2-8085-67D40BC1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0673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F263C-8B85-4598-A6EC-7E0287A8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7475A"/>
          </a:solidFill>
          <a:ln xmlns:a="http://schemas.openxmlformats.org/drawingml/2006/main" w="0">
            <a:solidFill>
              <a:srgbClr val="B747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83E53-8CD6-448C-9DDF-0D01858A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C489D-6E42-4612-B22A-A395A35B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66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Accessibility statement security and claims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0AAC6-D34E-4550-8706-C80555AC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52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Stored XSS risk from unescaped fields; remove verified, conformant, and legal-protection language.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30B4D-A87E-4655-99D5-ECC7F326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50673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61056-E039-4142-B1E8-F9ECF00C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428D1-5313-4C99-A65B-237834BA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95D5E2-FAFF-451C-AD0D-EEA0FA2C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66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Lint quality gate failing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F89F0-06ED-4D1B-A243-703BA4BB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52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Typecheck and tests pass, but lint can block CI if enforced.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C64587-6E8F-4695-BB6D-985F9D04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0673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C15F7-1076-4C9D-B071-AEF6B619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5EB459-1879-47B6-B483-90CBDC69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27F134-D950-4C5D-B146-2797B5EA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48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Monitor alert delivery incomplete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85B72-55E0-42BB-B982-2F842172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33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Scheduler creates scans, but email and Slack alert delivery is not implemented.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18A4E7-301B-4500-8B20-50BBCB78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50673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DD119E-CDAC-4A58-85ED-29C42BAB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86150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BA1093-A9CB-41D1-B72F-DDBB7226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433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18528D-CD3F-4AC1-A288-95DCAD15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48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PDF runtime dependency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063296-C46A-4E37-B607-A603D1C0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338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Web runtime must launch Chromium; moving PDF rendering to the worker is safer.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434270-C260-4CC7-BBF3-455733B9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0673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C1304B-A4F5-4171-9360-F0A46633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9238AC-5129-487C-B491-91C2687D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988B99-4090-46A8-A3A1-0AACAA0F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291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Firestore Base64 evidence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FA31CE-9597-4C01-8458-EF3887CA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14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The 650 KB cap helps, but Cloud Storage is better for scale and cost.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AAB602-8A7C-4542-B7C8-4E971445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57700"/>
            <a:ext cx="50673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FDF5DA-8DCE-4B6D-9572-4F4005F1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67250"/>
            <a:ext cx="457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C58C4C-D525-4767-A4DD-BA8BB284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72440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B5B530-0AF9-4CEB-B05B-B65F9D90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291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1422"/>
                </a:solidFill>
              </a:defRPr>
            </a:pPr>
            <a:r>
              <a:rPr sz="1200" b="1">
                <a:solidFill>
                  <a:srgbClr val="0E1422"/>
                </a:solidFill>
              </a:rPr>
              <a:t>Region preference caveat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344544-831C-4DF1-8413-FADAC088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914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UI preference is not the same as physical data residency without deployment-level controls.</a:t>
            </a:r>
          </a:p>
        </p:txBody>
      </p:sp>
    </p:spTree>
    <p:extLst>
      <p:ext uri="{BB962C8B-B14F-4D97-AF65-F5344CB8AC3E}">
        <p14:creationId xmlns:p14="http://schemas.microsoft.com/office/powerpoint/2010/main" val="5415843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E5C30C-20C9-4F85-BBC5-B7A5FBD4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39727A-6737-4A83-9DDE-37B09AF8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89C606-B26D-4E33-8E4A-63F81022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4b84cbba944e9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B93CD-D589-4FBD-8E05-D008AFBB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75FA4-8A1C-4AD6-9421-9BDF5913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3EB10E-3371-46CB-B441-2367FD27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SHORT, MEDIUM, AND LONG 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B0D9B-B4A1-4B20-AFA4-0C40FD84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Recommended roadmap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FC0FE-C070-4BEE-8FD0-AAB4EBC4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D2049-3036-4159-A448-38A1A3BF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DD075-218B-4146-BE53-5B5BB34A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27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DE8F8-21E5-43DF-93D5-73F0D20F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2194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CCE4E-B6C6-4770-99CE-E86E05EE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800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475A"/>
          </a:solidFill>
          <a:ln xmlns:a="http://schemas.openxmlformats.org/drawingml/2006/main" w="0">
            <a:solidFill>
              <a:srgbClr val="B747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D64D0-8DD7-4A3B-8EC7-AA552F94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422"/>
                </a:solidFill>
              </a:defRPr>
            </a:pPr>
            <a:r>
              <a:rPr sz="1575" b="1">
                <a:solidFill>
                  <a:srgbClr val="0E1422"/>
                </a:solidFill>
              </a:rPr>
              <a:t>Short term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10C148-AFB0-490B-B809-A214F868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Escape statement fields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Remove risky claims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Fix lint failures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Add monitor alert delivery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Clean stale docs and labels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Move PDF generation to worker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72DBA-5D35-4211-AC56-215FB1F6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32194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8ED77-D433-4A26-B833-115D79FD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800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04F07-B73A-4BF6-8403-1CA9B29A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422"/>
                </a:solidFill>
              </a:defRPr>
            </a:pPr>
            <a:r>
              <a:rPr sz="1575" b="1">
                <a:solidFill>
                  <a:srgbClr val="0E1422"/>
                </a:solidFill>
              </a:rPr>
              <a:t>Medium term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3D852-0E40-4E53-9D9E-D00B3113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62300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Move evidence to Cloud Storage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Add monitor trends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Email and Slack delivery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Brand/language report templates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Polar usage metrics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Staging authenticated E2E CI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11769-E5C2-422A-A42A-CD620A36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2194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82EC9-CC37-4AB1-B7DB-7C767E77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00300"/>
            <a:ext cx="8001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D7E84-7BB8-458A-B1CD-D3334ECA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860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1422"/>
                </a:solidFill>
              </a:defRPr>
            </a:pPr>
            <a:r>
              <a:rPr sz="1575" b="1">
                <a:solidFill>
                  <a:srgbClr val="0E1422"/>
                </a:solidFill>
              </a:rPr>
              <a:t>Long term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839D64-8BD7-4CF6-9983-6F446FAB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62300"/>
            <a:ext cx="266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Enterprise SSO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Dedicated data regions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Private scanner agent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Large asset inventory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SLA and regression analytics</a:t>
            </a:r>
          </a:p>
          <a:p xmlns:a="http://schemas.openxmlformats.org/drawingml/2006/main">
            <a:pPr algn="l">
              <a:defRPr sz="1050" b="0">
                <a:solidFill>
                  <a:srgbClr val="4B5570"/>
                </a:solidFill>
              </a:defRPr>
            </a:pPr>
            <a:r>
              <a:rPr sz="1050" b="0">
                <a:solidFill>
                  <a:srgbClr val="4B5570"/>
                </a:solidFill>
              </a:rPr>
              <a:t>- Jira, Linear, GitHub, GitLab integrations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FB8EFF-B445-46B7-BDD2-72333EB2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43550"/>
            <a:ext cx="811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3247"/>
                </a:solidFill>
              </a:defRPr>
            </a:pPr>
            <a:r>
              <a:rPr sz="1200" b="1">
                <a:solidFill>
                  <a:srgbClr val="2A3247"/>
                </a:solidFill>
              </a:rPr>
              <a:t>The roadmap strengthens trust first, then scalability, then enterprise expansion.</a:t>
            </a:r>
          </a:p>
        </p:txBody>
      </p:sp>
    </p:spTree>
    <p:extLst>
      <p:ext uri="{BB962C8B-B14F-4D97-AF65-F5344CB8AC3E}">
        <p14:creationId xmlns:p14="http://schemas.microsoft.com/office/powerpoint/2010/main" val="14428681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7A6AF8-DB0C-4A09-AB34-8AF6903E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-1619250"/>
            <a:ext cx="485775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1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6CC75-3D29-4CDF-800A-ADC24049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000250" y="3905250"/>
            <a:ext cx="5334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95DB65-8726-4BFE-BADB-0DF5E86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4000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>
              <a:alpha val="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8531279dd4ca5"/>
          <a:stretch xmlns:a="http://schemas.openxmlformats.org/drawingml/2006/main"/>
        </p:blipFill>
        <p:spPr>
          <a:xfrm xmlns:a="http://schemas.openxmlformats.org/drawingml/2006/main">
            <a:off x="609600" y="3619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AD054-3318-40CF-A52D-42D19DF0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percevia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7C48EF-0EE3-4AC5-887C-D7052DFF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102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5E4FD9"/>
                </a:solidFill>
              </a:defRPr>
            </a:pPr>
            <a:r>
              <a:rPr sz="600" b="1">
                <a:solidFill>
                  <a:srgbClr val="5E4FD9"/>
                </a:solidFill>
              </a:rPr>
              <a:t>MAITRICO.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D6E2D-4E06-43BC-BB42-87D142C2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4FD9"/>
                </a:solidFill>
              </a:defRPr>
            </a:pPr>
            <a:r>
              <a:rPr sz="750" b="1">
                <a:solidFill>
                  <a:srgbClr val="5E4FD9"/>
                </a:solidFill>
              </a:rPr>
              <a:t>RECOMMENDED TALK TRACK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0840D-9C28-44B8-9749-947C99C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2"/>
                </a:solidFill>
              </a:defRPr>
            </a:pPr>
            <a:r>
              <a:rPr sz="2850" b="1">
                <a:solidFill>
                  <a:srgbClr val="0E1422"/>
                </a:solidFill>
              </a:rPr>
              <a:t>What to emphasize in the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6A70F-29E2-41A2-8E10-C0CEE77D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4BC91-DEDA-4E08-BDA5-34366A3C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26C87"/>
                </a:solidFill>
              </a:defRPr>
            </a:pPr>
            <a:r>
              <a:rPr sz="750" b="0">
                <a:solidFill>
                  <a:srgbClr val="626C87"/>
                </a:solidFill>
              </a:rPr>
              <a:t>maitrico Percevia AI | Project scope and technical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080413-73E2-439A-820A-419A8BD8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26C87"/>
                </a:solidFill>
              </a:defRPr>
            </a:pPr>
            <a:r>
              <a:rPr sz="750" b="1">
                <a:solidFill>
                  <a:srgbClr val="626C87"/>
                </a:solidFill>
              </a:rPr>
              <a:t>28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E79A3-BD67-43ED-8B57-A086566A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E76B0-0AA7-4ED1-B2DA-8CD803C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solidFill>
              <a:srgbClr val="4A7B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50B6F-0023-41BB-A4AF-CA9D5EED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1. Operational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1419E4-AEEB-49FF-91C0-A76C2AB4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The core value is measurable, trackable, repeatable accessibility work, not simply finding more defects.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C0955-BD7E-4B27-9462-6149320F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4E288B-8AB6-41C3-B2AF-B131B061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solidFill>
              <a:srgbClr val="7A6C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272EE-1AA3-4CA9-A020-B8D0BC8D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2. Trust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A3BE81-9D61-48C7-A775-40430877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860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AI, screenshots, retention, public sharing, and legal language are governed explicitly.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89AF80-5D10-47B8-BF97-3FFEDBF5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4CB1D9-50DE-4881-91A6-7D1EC045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145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solidFill>
              <a:srgbClr val="3FA67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51FFB-9561-47F0-B810-33E417C9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3. Technical maturity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B58EE-69B8-43BA-B73A-3AA0D387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Async worker separation, SSRF defense, page jobs, retries, heartbeats, and tests show serious engineering.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CA6F2-DBDF-49CC-8983-D1B80D15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4F59E-CF5A-4443-91C0-DD0E736E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475A"/>
          </a:solidFill>
          <a:ln xmlns:a="http://schemas.openxmlformats.org/drawingml/2006/main" w="0">
            <a:solidFill>
              <a:srgbClr val="B747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DA357F-0DCC-4467-994F-B40446A7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4. Current honesty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90650-D491-48AF-BD87-B2302BC3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The deck should clearly name the statement risk, lint gap, alert gap, and PDF runtime dependency.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9823FE-6543-4F55-A5AD-CC4559A7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21664-1842-4CCE-8134-AD58D3CC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solidFill>
              <a:srgbClr val="C28A2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EC46F8-A5A4-4124-9E05-7621084B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243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5. Commercial path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C411F9-9224-4474-9C76-CC5C21E6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Polar subscriptions, team seats, monitor capacity, and report branding create a monetizable SaaS structure.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6557C8-586D-489A-8A86-E28C8D86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B37B1C-34E2-42FD-AEF6-59F42F7A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B122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AF9A9F-3011-4053-91E1-C298199F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243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1422"/>
                </a:solidFill>
              </a:defRPr>
            </a:pPr>
            <a:r>
              <a:rPr sz="1350" b="1">
                <a:solidFill>
                  <a:srgbClr val="0E1422"/>
                </a:solidFill>
              </a:rPr>
              <a:t>6. Future expansion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24B351-C92B-49C5-8897-F852738E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70"/>
                </a:solidFill>
              </a:defRPr>
            </a:pPr>
            <a:r>
              <a:rPr sz="1125" b="0">
                <a:solidFill>
                  <a:srgbClr val="4B5570"/>
                </a:solidFill>
              </a:rPr>
              <a:t>SSO, private scanning, data residency, inventory, trend analytics, and integrations map to enterprise buyers.</a:t>
            </a:r>
          </a:p>
        </p:txBody>
      </p:sp>
    </p:spTree>
    <p:extLst>
      <p:ext uri="{BB962C8B-B14F-4D97-AF65-F5344CB8AC3E}">
        <p14:creationId xmlns:p14="http://schemas.microsoft.com/office/powerpoint/2010/main" val="73984453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F26F16-B8CC-4399-BB36-02351F1A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1143000"/>
            <a:ext cx="4953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>
              <a:alpha val="2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F7371-0C0F-4E2F-A87B-2CF17850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524000" y="4000500"/>
            <a:ext cx="4953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a33cdd68e4bca"/>
          <a:stretch xmlns:a="http://schemas.openxmlformats.org/drawingml/2006/main"/>
        </p:blipFill>
        <p:spPr>
          <a:xfrm xmlns:a="http://schemas.openxmlformats.org/drawingml/2006/main">
            <a:off x="609600" y="4191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A81CA-458E-4A0C-A91F-67831DE4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percevia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5748B-5471-4AB2-A986-420CC1EE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3817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00" b="1">
                <a:solidFill>
                  <a:srgbClr val="FFFFFF">
                    <a:alpha val="70000"/>
                  </a:srgbClr>
                </a:solidFill>
              </a:defRPr>
            </a:pPr>
            <a:r>
              <a:rPr sz="600" b="1">
                <a:solidFill>
                  <a:srgbClr val="FFFFFF">
                    <a:alpha val="70000"/>
                  </a:srgbClr>
                </a:solidFill>
              </a:rPr>
              <a:t>MAITRICO.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7D06B-7F2C-4515-88D6-50E143EB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Percevia AI's value is not merely finding more defects.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A6306-C695-4B21-BBFE-0AF7C343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>
                    <a:alpha val="78000"/>
                  </a:srgbClr>
                </a:solidFill>
              </a:defRPr>
            </a:pPr>
            <a:r>
              <a:rPr sz="1950" b="0">
                <a:solidFill>
                  <a:srgbClr val="FFFFFF">
                    <a:alpha val="78000"/>
                  </a:srgbClr>
                </a:solidFill>
              </a:rPr>
              <a:t>It makes accessibility work measurable, trackable, governable, and repeatable.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0401A-5644-4923-B1F5-2D49A572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14750"/>
            <a:ext cx="2214563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94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E98D69-CF2A-4C4B-A5C9-D2B504EC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A7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ED405-2B21-4C0D-904B-A5694933B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624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7DB299-F411-4A21-9D1A-8B35074E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81500"/>
            <a:ext cx="18716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3A572-B607-4793-818D-10133EF4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14875"/>
            <a:ext cx="1871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Scores, categories, pages, groups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50B61A-406D-42DE-9368-B8863B5C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433387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4F3CC6-3DF3-4878-A769-1A6DFA9A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713" y="3714750"/>
            <a:ext cx="2214563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94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3686A-5EDE-474C-9D3E-2CDF86BD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3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6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91D90-DC54-4122-8BEE-6F88960E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3" y="39624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8B345-A2FC-4E2E-AFF0-8AA228E5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3" y="4381500"/>
            <a:ext cx="18716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Track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E077EF-ED8B-4D5A-8450-C380D5CA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163" y="4714875"/>
            <a:ext cx="1871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Tasks, statuses, comparisons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C33ED-7CDD-408F-890F-2D191BE1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3387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BB5C55-60A3-43FC-86B1-02760B43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14750"/>
            <a:ext cx="2214563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94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BF67E-AA25-48FE-9BE6-10242B51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8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2BDEA-4C92-4617-946A-94742469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9624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F95B57-E7BD-42E3-AE34-1CADE6D3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381500"/>
            <a:ext cx="18716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Govern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8E78B3-EAE1-4AD0-A790-29CE4AA4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14875"/>
            <a:ext cx="1871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Consent, audit, retention, deletion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9849D8-3CF1-4058-B09B-838E0EC5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3" y="4333875"/>
            <a:ext cx="15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892A6"/>
                </a:solidFill>
              </a:defRPr>
            </a:pPr>
            <a:r>
              <a:rPr sz="1650" b="1">
                <a:solidFill>
                  <a:srgbClr val="8892A6"/>
                </a:solidFill>
              </a:rPr>
              <a:t>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0FC8F7-1C1B-4D3D-A064-97ACD2DD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738" y="3714750"/>
            <a:ext cx="2214563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>
              <a:alpha val="94000"/>
            </a:srgbClr>
          </a:solidFill>
          <a:ln xmlns:a="http://schemas.openxmlformats.org/drawingml/2006/main" w="9525">
            <a:solidFill>
              <a:srgbClr val="FFFFFF">
                <a:alpha val="3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0691D2-3703-4D64-A8FB-FE214903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09E328-47D4-4382-B726-79F4E413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39624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303F79-7566-4916-BC18-9A225B53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4381500"/>
            <a:ext cx="187166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1422"/>
                </a:solidFill>
              </a:defRPr>
            </a:pPr>
            <a:r>
              <a:rPr sz="1125" b="1">
                <a:solidFill>
                  <a:srgbClr val="0E1422"/>
                </a:solidFill>
              </a:rPr>
              <a:t>Repeat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F9BA6A-E72A-49F3-B0A0-D50A95BB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4714875"/>
            <a:ext cx="187166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70"/>
                </a:solidFill>
              </a:defRPr>
            </a:pPr>
            <a:r>
              <a:rPr sz="900" b="0">
                <a:solidFill>
                  <a:srgbClr val="4B5570"/>
                </a:solidFill>
              </a:rPr>
              <a:t>Monitors, schedules, roadmaps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6B8CAD-D3BC-46E3-A8BD-43A20AD6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581650"/>
            <a:ext cx="1981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0FA1B7-1C7C-4280-AF9B-374B46CE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FFFFFF">
                    <a:alpha val="70000"/>
                  </a:srgbClr>
                </a:solidFill>
              </a:defRPr>
            </a:pPr>
            <a:r>
              <a:rPr sz="750" b="0">
                <a:solidFill>
                  <a:srgbClr val="FFFFFF">
                    <a:alpha val="70000"/>
                  </a:srgbClr>
                </a:solidFill>
              </a:rPr>
              <a:t>maitrico Percevia AI | Project scope and technical architecture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0DCC30-0775-496F-B112-D7E84485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FFFFFF">
                    <a:alpha val="70000"/>
                  </a:srgbClr>
                </a:solidFill>
              </a:defRPr>
            </a:pPr>
            <a:r>
              <a:rPr sz="750" b="1">
                <a:solidFill>
                  <a:srgbClr val="FFFFFF">
                    <a:alpha val="70000"/>
                  </a:srgbClr>
                </a:solidFill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507911624"/>
      </p:ext>
    </p:extLst>
  </p:cSld>
</p:sld>
</file>

<file path=ppt/theme/theme1.xml><?xml version="1.0" encoding="utf-8"?>
<a:theme xmlns:a="http://schemas.openxmlformats.org/drawingml/2006/main" name="ChatGPT">
  <a:themeElements>
    <a:clrScheme name="Percevia AI">
      <a:dk1>
        <a:srgbClr val="0B1220"/>
      </a:dk1>
      <a:lt1>
        <a:srgbClr val="FFFFFF"/>
      </a:lt1>
      <a:dk2>
        <a:srgbClr val="111A2E"/>
      </a:dk2>
      <a:lt2>
        <a:srgbClr val="EFF2F8"/>
      </a:lt2>
      <a:accent1>
        <a:srgbClr val="4A7BFF"/>
      </a:accent1>
      <a:accent2>
        <a:srgbClr val="7A6CF0"/>
      </a:accent2>
      <a:accent3>
        <a:srgbClr val="3FA67A"/>
      </a:accent3>
      <a:accent4>
        <a:srgbClr val="C28A2E"/>
      </a:accent4>
      <a:accent5>
        <a:srgbClr val="B7475A"/>
      </a:accent5>
      <a:accent6>
        <a:srgbClr val="0B1220"/>
      </a:accent6>
      <a:hlink>
        <a:srgbClr val="3563E6"/>
      </a:hlink>
      <a:folHlink>
        <a:srgbClr val="5E4FD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Percevia AI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2026-06-23T17:13:09.4630000Z</dcterms:created>
  <dcterms:modified xsi:type="dcterms:W3CDTF">2026-06-23T17:13:09.4630000Z</dcterms:modified>
</coreProperties>
</file>